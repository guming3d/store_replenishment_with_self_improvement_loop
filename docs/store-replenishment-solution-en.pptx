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6" r:id="rId17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0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82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supply chain network hero background"/>
          <p:cNvPicPr>
            <a:picLocks noChangeAspect="1"/>
          </p:cNvPicPr>
          <p:nvPr/>
        </p:nvPicPr>
        <p:blipFill>
          <a:blip r:embed="rId3"/>
          <a:srcRect t="25213" b="25213"/>
          <a:stretch>
            <a:fillRect/>
          </a:stretch>
        </p:blipFill>
        <p:spPr>
          <a:xfrm>
            <a:off x="0" y="0"/>
            <a:ext cx="12191695" cy="3401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Replenishment that explains itself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85800" y="4553712"/>
            <a:ext cx="8778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deterministic engine computes the quantities, agents judge the evidence,</a:t>
            </a:r>
            <a:endParaRPr lang="en-US" sz="1400" dirty="0"/>
          </a:p>
          <a:p>
            <a:pPr marL="0" indent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every override leaves a reproducible, traceable reason behind.</a:t>
            </a:r>
            <a:endParaRPr lang="en-US" sz="1400" dirty="0"/>
          </a:p>
        </p:txBody>
      </p:sp>
      <p:pic>
        <p:nvPicPr>
          <p:cNvPr id="5" name="Image 1" descr="C:\Users\minggu\code\dmall_supply_chain\.deck_build\pills\pill_2720_420_210_A736AE_1C5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59552"/>
            <a:ext cx="248716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5559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(s, S) engine</a:t>
            </a:r>
            <a:endParaRPr lang="en-US" sz="1050" dirty="0"/>
          </a:p>
        </p:txBody>
      </p:sp>
      <p:pic>
        <p:nvPicPr>
          <p:cNvPr id="7" name="Image 2" descr="C:\Users\minggu\code\dmall_supply_chain\.deck_build\pills\pill_2720_420_210_A736AE_1C5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5559552"/>
            <a:ext cx="248716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74136" y="5559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Pluggable diagnostic agents</a:t>
            </a:r>
            <a:endParaRPr lang="en-US" sz="1050" dirty="0"/>
          </a:p>
        </p:txBody>
      </p:sp>
      <p:pic>
        <p:nvPicPr>
          <p:cNvPr id="9" name="Image 3" descr="C:\Users\minggu\code\dmall_supply_chain\.deck_build\pills\pill_2720_420_210_A736AE_1C5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5559552"/>
            <a:ext cx="248716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62472" y="5559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attribution gate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685800" y="62910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Framework · Azure AI Foundry · Azure Container Apps · Azure Database for PostgreSQL</a:t>
            </a:r>
            <a:endParaRPr lang="en-US" sz="950" dirty="0"/>
          </a:p>
        </p:txBody>
      </p:sp>
      <p:pic>
        <p:nvPicPr>
          <p:cNvPr id="12" name="Picture 11" descr="pill_598_92_46_A736AE_1C51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5559552"/>
            <a:ext cx="248716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50808" y="5559552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Measured learning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is easy. Explaining the override is not.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1E8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</a:t>
            </a:r>
            <a:r>
              <a:rPr lang="en-US" sz="1650" b="1" dirty="0">
                <a:solidFill>
                  <a:srgbClr val="0E6A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proposes </a:t>
            </a:r>
            <a:r>
              <a:rPr lang="en-US" sz="1650" b="1" dirty="0">
                <a:solidFill>
                  <a:srgbClr val="2F61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50" b="1" dirty="0">
                <a:solidFill>
                  <a:srgbClr val="4F5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quantity, </a:t>
            </a:r>
            <a:r>
              <a:rPr lang="en-US" sz="1650" b="1" dirty="0">
                <a:solidFill>
                  <a:srgbClr val="6D5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8B4F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</a:t>
            </a:r>
            <a:r>
              <a:rPr lang="en-US" sz="1650" b="1" dirty="0">
                <a:solidFill>
                  <a:srgbClr val="A94D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submits </a:t>
            </a:r>
            <a:r>
              <a:rPr lang="en-US" sz="1650" b="1" dirty="0">
                <a:solidFill>
                  <a:srgbClr val="C74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50" b="1" dirty="0">
                <a:solidFill>
                  <a:srgbClr val="D250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399434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2377440"/>
            <a:ext cx="457200" cy="457200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296265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structured basis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3529584"/>
            <a:ext cx="26313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 lives in a conversation or a free-text box, so it never becomes data and can never be validated.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6130" y="2103120"/>
            <a:ext cx="3399434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0178" y="2377440"/>
            <a:ext cx="457200" cy="457200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8017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0178" y="296265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look back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0178" y="3529584"/>
            <a:ext cx="26313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can separate seasonality from holiday stock-up, substitution demand shift, or a simple misjudgement.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6461" y="2103120"/>
            <a:ext cx="3399434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90509" y="2377440"/>
            <a:ext cx="457200" cy="457200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90509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90509" y="296265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accumulates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90509" y="3529584"/>
            <a:ext cx="26313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override recurs, yet it never flows back into replenishment parameters or the forecast model.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override is not the problem. The missing explanation is.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layers: compute, judge, review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Separating </a:t>
            </a:r>
            <a:r>
              <a:rPr lang="en-US" sz="1650" b="1" dirty="0">
                <a:solidFill>
                  <a:srgbClr val="1F86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producing </a:t>
            </a:r>
            <a:r>
              <a:rPr lang="en-US" sz="1650" b="1" dirty="0">
                <a:solidFill>
                  <a:srgbClr val="116F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</a:t>
            </a:r>
            <a:r>
              <a:rPr lang="en-US" sz="1650" b="1" dirty="0">
                <a:solidFill>
                  <a:srgbClr val="266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</a:t>
            </a:r>
            <a:r>
              <a:rPr lang="en-US" sz="1650" b="1" dirty="0">
                <a:solidFill>
                  <a:srgbClr val="435A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judging </a:t>
            </a:r>
            <a:r>
              <a:rPr lang="en-US" sz="1650" b="1" dirty="0">
                <a:solidFill>
                  <a:srgbClr val="5F55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</a:t>
            </a:r>
            <a:r>
              <a:rPr lang="en-US" sz="1650" b="1" dirty="0">
                <a:solidFill>
                  <a:srgbClr val="7B5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</a:t>
            </a:r>
            <a:r>
              <a:rPr lang="en-US" sz="1650" b="1" dirty="0">
                <a:solidFill>
                  <a:srgbClr val="964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</a:t>
            </a:r>
            <a:r>
              <a:rPr lang="en-US" sz="1650" b="1" dirty="0">
                <a:solidFill>
                  <a:srgbClr val="B14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</a:t>
            </a:r>
            <a:r>
              <a:rPr lang="en-US" sz="1650" b="1" dirty="0">
                <a:solidFill>
                  <a:srgbClr val="C94B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D35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trustworthy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339943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minggu\code\dmall_supply_chain\.deck_build\pills\pill_2677_440_2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721" y="1883664"/>
            <a:ext cx="2447593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721" y="1883664"/>
            <a:ext cx="24475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· COMPUTE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51560" y="2487168"/>
            <a:ext cx="2667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200400"/>
            <a:ext cx="2667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(s, S) policy computes the suggestion from a frozen snapshot of inventory, parameters and demand. Same input, same output, always.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234440" y="4407408"/>
            <a:ext cx="2302154" cy="10973"/>
          </a:xfrm>
          <a:prstGeom prst="rect">
            <a:avLst/>
          </a:prstGeom>
          <a:solidFill>
            <a:srgbClr val="E4E2E7"/>
          </a:solidFill>
          <a:ln w="12700">
            <a:solidFill>
              <a:srgbClr val="E4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1560" y="4517136"/>
            <a:ext cx="2667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544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Emits quantity, stock position and calculation trace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96130" y="2084832"/>
            <a:ext cx="339943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C:\Users\minggu\code\dmall_supply_chain\.deck_build\pills\pill_2677_440_2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051" y="1883664"/>
            <a:ext cx="2447593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2051" y="1883664"/>
            <a:ext cx="24475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JUDGE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61890" y="2487168"/>
            <a:ext cx="2667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Pluggable diagnostics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61890" y="3200400"/>
            <a:ext cx="2667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Seasonal / holiday and substitution agents answer exactly one question: does this evidence hold? Shell, file and web tools are disabled.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944770" y="4407408"/>
            <a:ext cx="2302154" cy="10973"/>
          </a:xfrm>
          <a:prstGeom prst="rect">
            <a:avLst/>
          </a:prstGeom>
          <a:solidFill>
            <a:srgbClr val="E4E2E7"/>
          </a:solidFill>
          <a:ln w="12700">
            <a:solidFill>
              <a:srgbClr val="E4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1890" y="4517136"/>
            <a:ext cx="2667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544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diagnostic domain is a new agent, not a pipeline change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6461" y="2084832"/>
            <a:ext cx="339943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C:\Users\minggu\code\dmall_supply_chain\.deck_build\pills\pill_2677_440_2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382" y="1883664"/>
            <a:ext cx="2447593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82382" y="1883664"/>
            <a:ext cx="24475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 · QUANTIFY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72221" y="2487168"/>
            <a:ext cx="2667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and review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72221" y="3200400"/>
            <a:ext cx="2667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counterfactual replay plus Shapley allocation yields a signed contribution and share for every cause.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655101" y="4407408"/>
            <a:ext cx="2302154" cy="10973"/>
          </a:xfrm>
          <a:prstGeom prst="rect">
            <a:avLst/>
          </a:prstGeom>
          <a:solidFill>
            <a:srgbClr val="E4E2E7"/>
          </a:solidFill>
          <a:ln w="12700">
            <a:solidFill>
              <a:srgbClr val="E4E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472221" y="4517136"/>
            <a:ext cx="2667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544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submitted until a human has approved the report</a:t>
            </a:r>
            <a:endParaRPr lang="en-US" sz="1050" dirty="0"/>
          </a:p>
        </p:txBody>
      </p:sp>
      <p:pic>
        <p:nvPicPr>
          <p:cNvPr id="25" name="Image 3" descr="C:\Users\minggu\code\dmall_supply_chain\.deck_build\pills\pill_11833_660_160_A736AE_1C51A0.png"/>
          <p:cNvPicPr>
            <a:picLocks noChangeAspect="1"/>
          </p:cNvPicPr>
          <p:nvPr/>
        </p:nvPicPr>
        <p:blipFill>
          <a:blip r:embed="rId4"/>
          <a:srcRect t="763" b="763"/>
          <a:stretch>
            <a:fillRect/>
          </a:stretch>
        </p:blipFill>
        <p:spPr>
          <a:xfrm>
            <a:off x="685800" y="5504688"/>
            <a:ext cx="10820095" cy="6035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" y="550468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never produces a number. Every unit and share is recomputed by the engine.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judge, the engine computes, people decide.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daily flow: only an override triggers attribution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 </a:t>
            </a:r>
            <a:r>
              <a:rPr lang="en-US" sz="1650" b="1" dirty="0">
                <a:solidFill>
                  <a:srgbClr val="228A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</a:t>
            </a:r>
            <a:r>
              <a:rPr lang="en-US" sz="1650" b="1" dirty="0">
                <a:solidFill>
                  <a:srgbClr val="157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</a:t>
            </a:r>
            <a:r>
              <a:rPr lang="en-US" sz="1650" b="1" dirty="0">
                <a:solidFill>
                  <a:srgbClr val="1867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3160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</a:t>
            </a:r>
            <a:r>
              <a:rPr lang="en-US" sz="1650" b="1" dirty="0">
                <a:solidFill>
                  <a:srgbClr val="4A5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</a:t>
            </a:r>
            <a:r>
              <a:rPr lang="en-US" sz="1650" b="1" dirty="0">
                <a:solidFill>
                  <a:srgbClr val="6155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</a:t>
            </a:r>
            <a:r>
              <a:rPr lang="en-US" sz="1650" b="1" dirty="0">
                <a:solidFill>
                  <a:srgbClr val="795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</a:t>
            </a:r>
            <a:r>
              <a:rPr lang="en-US" sz="1650" b="1" dirty="0">
                <a:solidFill>
                  <a:srgbClr val="904F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650" b="1" dirty="0">
                <a:solidFill>
                  <a:srgbClr val="A74D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</a:t>
            </a:r>
            <a:r>
              <a:rPr lang="en-US" sz="1650" b="1" dirty="0">
                <a:solidFill>
                  <a:srgbClr val="BE4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</a:t>
            </a:r>
            <a:r>
              <a:rPr lang="en-US" sz="1650" b="1" dirty="0">
                <a:solidFill>
                  <a:srgbClr val="CC4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</a:t>
            </a:r>
            <a:r>
              <a:rPr lang="en-US" sz="1650" b="1" dirty="0">
                <a:solidFill>
                  <a:srgbClr val="D551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3511296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3511296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store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date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02536" y="3941064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48840" y="3511296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21992" y="3511296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generates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65576" y="3941064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3511296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85032" y="3511296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the quantity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changed?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2240280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22392" y="2240280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a reason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65976" y="2670048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C:\Users\minggu\code\dmall_supply_chain\.deck_build\pills\pill_1380_940_1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240280"/>
            <a:ext cx="1261872" cy="8595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12280" y="2240280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analyses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29016" y="2670048"/>
            <a:ext cx="9144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75320" y="2240280"/>
            <a:ext cx="126187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48472" y="2240280"/>
            <a:ext cx="1115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49240" y="4846320"/>
            <a:ext cx="418795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32120" y="4846320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Unchanged: confirm and submit directly, no attribution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928616" y="3941064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11496" y="2670048"/>
            <a:ext cx="0" cy="2542032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111496" y="2670048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111496" y="5212080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92056" y="2670048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592056" y="5212080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774936" y="2670048"/>
            <a:ext cx="0" cy="2542032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774936" y="3941064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0012680" y="3511296"/>
            <a:ext cx="1493215" cy="859536"/>
          </a:xfrm>
          <a:prstGeom prst="roundRect">
            <a:avLst>
              <a:gd name="adj" fmla="val 12766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085832" y="3511296"/>
            <a:ext cx="134691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result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202936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4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202936" y="5632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Unchanged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applies only to what actually changed, so daily workload stays flat.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attribution is reached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</a:t>
            </a:r>
            <a:r>
              <a:rPr lang="en-US" sz="1650" b="1" dirty="0">
                <a:solidFill>
                  <a:srgbClr val="1F86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</a:t>
            </a:r>
            <a:r>
              <a:rPr lang="en-US" sz="1650" b="1" dirty="0">
                <a:solidFill>
                  <a:srgbClr val="116F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</a:t>
            </a:r>
            <a:r>
              <a:rPr lang="en-US" sz="1650" b="1" dirty="0">
                <a:solidFill>
                  <a:srgbClr val="266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</a:t>
            </a:r>
            <a:r>
              <a:rPr lang="en-US" sz="1650" b="1" dirty="0">
                <a:solidFill>
                  <a:srgbClr val="435A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holds; </a:t>
            </a:r>
            <a:r>
              <a:rPr lang="en-US" sz="1650" b="1" dirty="0">
                <a:solidFill>
                  <a:srgbClr val="5F55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</a:t>
            </a:r>
            <a:r>
              <a:rPr lang="en-US" sz="1650" b="1" dirty="0">
                <a:solidFill>
                  <a:srgbClr val="7B5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</a:t>
            </a:r>
            <a:r>
              <a:rPr lang="en-US" sz="1650" b="1" dirty="0">
                <a:solidFill>
                  <a:srgbClr val="964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</a:t>
            </a:r>
            <a:r>
              <a:rPr lang="en-US" sz="1650" b="1" dirty="0">
                <a:solidFill>
                  <a:srgbClr val="B14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recomputed </a:t>
            </a:r>
            <a:r>
              <a:rPr lang="en-US" sz="1650" b="1" dirty="0">
                <a:solidFill>
                  <a:srgbClr val="C94B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</a:t>
            </a:r>
            <a:r>
              <a:rPr lang="en-US" sz="1650" b="1" dirty="0">
                <a:solidFill>
                  <a:srgbClr val="D35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56914" y="1956816"/>
            <a:ext cx="402336" cy="402336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56914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quantity plus a mandatory cause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6083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683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75797" y="1956816"/>
            <a:ext cx="402336" cy="402336"/>
          </a:xfrm>
          <a:prstGeom prst="ellipse">
            <a:avLst/>
          </a:prstGeom>
          <a:solidFill>
            <a:srgbClr val="843DAB"/>
          </a:solidFill>
          <a:ln w="12700">
            <a:solidFill>
              <a:srgbClr val="843D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5797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50987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 snapshot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50987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parameters and demand are locked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4966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3566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94680" y="1956816"/>
            <a:ext cx="402336" cy="402336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468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69870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9870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Seasonal / holiday and substitution evidence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13849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42449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13563" y="1956816"/>
            <a:ext cx="402336" cy="402336"/>
          </a:xfrm>
          <a:prstGeom prst="ellipse">
            <a:avLst/>
          </a:prstGeom>
          <a:solidFill>
            <a:srgbClr val="3F4AA4"/>
          </a:solidFill>
          <a:ln w="12700">
            <a:solidFill>
              <a:srgbClr val="3F4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3563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8753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88753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re-run with the named causes off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32732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61332" y="1783080"/>
            <a:ext cx="1944563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332446" y="1956816"/>
            <a:ext cx="402336" cy="402336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332446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07636" y="2450592"/>
            <a:ext cx="1651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07636" y="2871216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Shapley split, with the remainder exposed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3657600"/>
            <a:ext cx="10820095" cy="1335024"/>
          </a:xfrm>
          <a:prstGeom prst="roundRect">
            <a:avLst>
              <a:gd name="adj" fmla="val 9589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1560" y="3803904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5B4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CONSERVATION IDENTITY · ENFORCED ON EVERY REPORT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51560" y="4096512"/>
            <a:ext cx="100885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 contributions  +  unexplained residual  =  final − baseline without the evidence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51560" y="4535424"/>
            <a:ext cx="10088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report that does not satisfy this identity never reaches the review queue.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5138928"/>
            <a:ext cx="5254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78408" y="5422392"/>
            <a:ext cx="146304" cy="146304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52728" y="5138928"/>
            <a:ext cx="443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contribution traces back to an evidence source, version and freshness.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51296" y="5138928"/>
            <a:ext cx="5254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43904" y="5422392"/>
            <a:ext cx="146304" cy="146304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18224" y="5138928"/>
            <a:ext cx="443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 states the explained share; whatever the evidence cannot cover is labelled unexplained.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Reproducible by construction: the same snapshot and evidence always allocate the same way.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hard constraints that make the result defensible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</a:t>
            </a:r>
            <a:r>
              <a:rPr lang="en-US" sz="1650" b="1" dirty="0">
                <a:solidFill>
                  <a:srgbClr val="1779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</a:t>
            </a:r>
            <a:r>
              <a:rPr lang="en-US" sz="1650" b="1" dirty="0">
                <a:solidFill>
                  <a:srgbClr val="2A62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</a:t>
            </a:r>
            <a:r>
              <a:rPr lang="en-US" sz="1650" b="1" dirty="0">
                <a:solidFill>
                  <a:srgbClr val="585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</a:t>
            </a:r>
            <a:r>
              <a:rPr lang="en-US" sz="1650" b="1" dirty="0">
                <a:solidFill>
                  <a:srgbClr val="825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surviving </a:t>
            </a:r>
            <a:r>
              <a:rPr lang="en-US" sz="1650" b="1" dirty="0">
                <a:solidFill>
                  <a:srgbClr val="AD4C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50" b="1" dirty="0">
                <a:solidFill>
                  <a:srgbClr val="CD4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99434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56917" y="2121408"/>
            <a:ext cx="457200" cy="457200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56917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14984" y="2706624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numbers from the agent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4984" y="3255264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only answers whether evidence holds. Units and shares are recomputed by the engine, so no quantity is invented and no score needs interpreting.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6130" y="1874520"/>
            <a:ext cx="3399434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67248" y="2121408"/>
            <a:ext cx="457200" cy="457200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672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25314" y="2706624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unit maps to evidence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25314" y="3255264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unit traces to a specific cause, and the inventory, parameters and demand frozen at decision time can be reopened.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461" y="1874520"/>
            <a:ext cx="3399434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77578" y="2121408"/>
            <a:ext cx="457200" cy="457200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7757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35645" y="2706624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forced explanations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35645" y="3255264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Whatever the evidence cannot cover is explicitly labelled unexplained and raised for confirmation, rather than padded with an invented reason.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809744"/>
            <a:ext cx="10820095" cy="1060704"/>
          </a:xfrm>
          <a:prstGeom prst="roundRect">
            <a:avLst>
              <a:gd name="adj" fmla="val 12069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88136" y="4956048"/>
            <a:ext cx="10015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24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Observability: Agent Trace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88136" y="5248656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attempt records real model and tool call counts, latency and token usage, with a redacted JSONL log available for download. Prompt bodies, tool argument values and credentials are never recorded.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requires something that can be challenged.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submission gate has no bypass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Whenever </a:t>
            </a:r>
            <a:r>
              <a:rPr lang="en-US" sz="1650" b="1" dirty="0">
                <a:solidFill>
                  <a:srgbClr val="218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1373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</a:t>
            </a:r>
            <a:r>
              <a:rPr lang="en-US" sz="1650" b="1" dirty="0">
                <a:solidFill>
                  <a:srgbClr val="1E65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</a:t>
            </a:r>
            <a:r>
              <a:rPr lang="en-US" sz="1650" b="1" dirty="0">
                <a:solidFill>
                  <a:srgbClr val="395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differs </a:t>
            </a:r>
            <a:r>
              <a:rPr lang="en-US" sz="1650" b="1" dirty="0">
                <a:solidFill>
                  <a:srgbClr val="5456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</a:t>
            </a:r>
            <a:r>
              <a:rPr lang="en-US" sz="1650" b="1" dirty="0">
                <a:solidFill>
                  <a:srgbClr val="6D5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50" b="1" dirty="0">
                <a:solidFill>
                  <a:srgbClr val="865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suggestion, </a:t>
            </a:r>
            <a:r>
              <a:rPr lang="en-US" sz="1650" b="1" dirty="0">
                <a:solidFill>
                  <a:srgbClr val="9F4D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</a:t>
            </a:r>
            <a:r>
              <a:rPr lang="en-US" sz="1650" b="1" dirty="0">
                <a:solidFill>
                  <a:srgbClr val="B84B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650" b="1" dirty="0">
                <a:solidFill>
                  <a:srgbClr val="CB4C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</a:t>
            </a:r>
            <a:r>
              <a:rPr lang="en-US" sz="1650" b="1" dirty="0">
                <a:solidFill>
                  <a:srgbClr val="D45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1122984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" y="1810512"/>
            <a:ext cx="1013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54504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46528" y="1810512"/>
            <a:ext cx="2167875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1392" y="1810512"/>
            <a:ext cx="20581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ATTRIBUTION_RUNNING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60123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2147" y="1810512"/>
            <a:ext cx="2764956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7011" y="1810512"/>
            <a:ext cx="26552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ATTRIBUTION_REVIEW_REQUIRED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62823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54847" y="1810512"/>
            <a:ext cx="1869335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09711" y="1810512"/>
            <a:ext cx="17596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14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READY_TO_SUBMIT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69901" y="2148840"/>
            <a:ext cx="146304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C:\Users\minggu\code\dmall_supply_chain\.deck_build\pills\pill_2126_740_120_A736AE_1C5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925" y="1810512"/>
            <a:ext cx="1943970" cy="6766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1925" y="1810512"/>
            <a:ext cx="19439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SUBMITTED_LOCKED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" y="2761488"/>
            <a:ext cx="5626450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69848" y="2962656"/>
            <a:ext cx="4858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constraints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69848" y="3346704"/>
            <a:ext cx="480349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Re-overriding marks the prior case SUPERSEDED and voids its approval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partial report cannot be approved until a human completes it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agent failure still requires reviewed manual attribution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 is all-or-nothing; the run is then read-only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23146" y="2761488"/>
            <a:ext cx="4882750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07194" y="2962656"/>
            <a:ext cx="4114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review actions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07194" y="3383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890858" y="3383280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is complete and acceptable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007194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REQUEST_CHANGES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890858" y="3813048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reprocessing or human input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007194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AMEND_AND_APPROVE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890858" y="4242816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after editing contributions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07194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14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MANUAL_AND_APPROVE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890858" y="4672584"/>
            <a:ext cx="2230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attribution after agent failure</a:t>
            </a:r>
            <a:endParaRPr lang="en-US" sz="1050" dirty="0"/>
          </a:p>
        </p:txBody>
      </p:sp>
      <p:pic>
        <p:nvPicPr>
          <p:cNvPr id="31" name="Image 1" descr="C:\Users\minggu\code\dmall_supply_chain\.deck_build\pills\pill_11833_620_140_A736AE_1C5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58384"/>
            <a:ext cx="10820095" cy="56692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85800" y="5358384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skip-attribution path — the gate only accepts an approved state.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constraint lives in the state machine, not in a policy document.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The learning loop starts at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17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2E9E93"/>
                </a:solidFill>
                <a:latin typeface="Segoe UI"/>
                <a:ea typeface="Segoe UI"/>
                <a:cs typeface="Segoe UI"/>
              </a:rPr>
              <a:t>Daily </a:t>
            </a:r>
            <a:r>
              <a:rPr sz="1650" b="1">
                <a:solidFill>
                  <a:srgbClr val="1D81A9"/>
                </a:solidFill>
                <a:latin typeface="Segoe UI"/>
                <a:ea typeface="Segoe UI"/>
                <a:cs typeface="Segoe UI"/>
              </a:rPr>
              <a:t>actual </a:t>
            </a:r>
            <a:r>
              <a:rPr sz="1650" b="1">
                <a:solidFill>
                  <a:srgbClr val="1668B8"/>
                </a:solidFill>
                <a:latin typeface="Segoe UI"/>
                <a:ea typeface="Segoe UI"/>
                <a:cs typeface="Segoe UI"/>
              </a:rPr>
              <a:t>sales </a:t>
            </a:r>
            <a:r>
              <a:rPr sz="1650" b="1">
                <a:solidFill>
                  <a:srgbClr val="3266B1"/>
                </a:solidFill>
                <a:latin typeface="Segoe UI"/>
                <a:ea typeface="Segoe UI"/>
                <a:cs typeface="Segoe UI"/>
              </a:rPr>
              <a:t>settle </a:t>
            </a:r>
            <a:r>
              <a:rPr sz="1650" b="1">
                <a:solidFill>
                  <a:srgbClr val="4F63A9"/>
                </a:solidFill>
                <a:latin typeface="Segoe UI"/>
                <a:ea typeface="Segoe UI"/>
                <a:cs typeface="Segoe UI"/>
              </a:rPr>
              <a:t>whether </a:t>
            </a:r>
            <a:r>
              <a:rPr sz="1650" b="1">
                <a:solidFill>
                  <a:srgbClr val="6B60A2"/>
                </a:solidFill>
                <a:latin typeface="Segoe UI"/>
                <a:ea typeface="Segoe UI"/>
                <a:cs typeface="Segoe UI"/>
              </a:rPr>
              <a:t>each </a:t>
            </a:r>
            <a:r>
              <a:rPr sz="1650" b="1">
                <a:solidFill>
                  <a:srgbClr val="885D9A"/>
                </a:solidFill>
                <a:latin typeface="Segoe UI"/>
                <a:ea typeface="Segoe UI"/>
                <a:cs typeface="Segoe UI"/>
              </a:rPr>
              <a:t>override </a:t>
            </a:r>
            <a:r>
              <a:rPr sz="1650" b="1">
                <a:solidFill>
                  <a:srgbClr val="A45B92"/>
                </a:solidFill>
                <a:latin typeface="Segoe UI"/>
                <a:ea typeface="Segoe UI"/>
                <a:cs typeface="Segoe UI"/>
              </a:rPr>
              <a:t>was </a:t>
            </a:r>
            <a:r>
              <a:rPr sz="1650" b="1">
                <a:solidFill>
                  <a:srgbClr val="C1588B"/>
                </a:solidFill>
                <a:latin typeface="Segoe UI"/>
                <a:ea typeface="Segoe UI"/>
                <a:cs typeface="Segoe UI"/>
              </a:rPr>
              <a:t>really </a:t>
            </a:r>
            <a:r>
              <a:rPr sz="1650" b="1">
                <a:solidFill>
                  <a:srgbClr val="DD5583"/>
                </a:solidFill>
                <a:latin typeface="Segoe UI"/>
                <a:ea typeface="Segoe UI"/>
                <a:cs typeface="Segoe UI"/>
              </a:rPr>
              <a:t>right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468" y="1911095"/>
            <a:ext cx="402336" cy="402336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58468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Ledger on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Overridden and accepted lines are both recorded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1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0460" y="1911095"/>
            <a:ext cx="402336" cy="402336"/>
          </a:xfrm>
          <a:prstGeom prst="ellipse">
            <a:avLst/>
          </a:prstGeom>
          <a:solidFill>
            <a:srgbClr val="843DAB"/>
          </a:solidFill>
          <a:ln w="12700">
            <a:solidFill>
              <a:srgbClr val="843D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0460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Fix the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Horizon comes from the snapshot frozen that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1184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3307" y="1911095"/>
            <a:ext cx="402336" cy="402336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3307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Sales flow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Daily actual units and stockout flags are ingested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1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42631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5300" y="1911095"/>
            <a:ext cx="402336" cy="402336"/>
          </a:xfrm>
          <a:prstGeom prst="ellipse">
            <a:avLst/>
          </a:prstGeom>
          <a:solidFill>
            <a:srgbClr val="3F4AA4"/>
          </a:solidFill>
          <a:ln w="12700">
            <a:solidFill>
              <a:srgbClr val="3F4A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5300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Judge both sides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Engine and human are scored against the same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6024" y="2633472"/>
            <a:ext cx="182880" cy="0"/>
          </a:xfrm>
          <a:prstGeom prst="line">
            <a:avLst/>
          </a:prstGeom>
          <a:noFill/>
          <a:ln w="15875">
            <a:solidFill>
              <a:srgbClr val="A9A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64624" y="1737360"/>
            <a:ext cx="1947672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7292" y="1911095"/>
            <a:ext cx="402336" cy="402336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7292" y="19110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2404872"/>
            <a:ext cx="16550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Update posterior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843784"/>
            <a:ext cx="1655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A Wilson lower bound converts evidence into weight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712463"/>
            <a:ext cx="10817352" cy="1298448"/>
          </a:xfrm>
          <a:prstGeom prst="rect">
            <a:avLst/>
          </a:prstGeom>
          <a:solidFill>
            <a:srgbClr val="F0EDF6"/>
          </a:solidFill>
          <a:ln w="12700">
            <a:solidFill>
              <a:srgbClr val="F0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133087"/>
            <a:ext cx="100858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Hindsight-optimal quantity  =  real demand in the window, lost sales included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572000"/>
            <a:ext cx="10085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Whoever lands closer wins the line; a gap below half a case pack is a tie and scores for neither side.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175504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8408" y="5468112"/>
            <a:ext cx="146304" cy="146304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2728" y="517550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Scoring accepted lines too is what teaches the system about the overrides that never happened.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5175504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47104" y="5468112"/>
            <a:ext cx="146304" cy="146304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1424" y="517550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The rule is pinned to the frozen snapshot, so today's parameter change cannot rewrite yesterday's scorecard.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76747C"/>
                </a:solidFill>
                <a:latin typeface="Segoe UI"/>
                <a:ea typeface="Segoe UI"/>
                <a:cs typeface="Segoe UI"/>
              </a:rPr>
              <a:t>Without actual sales flowing back, attribution is only a record. With it, attribution starts producing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Knowledge that earns its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17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2E9E93"/>
                </a:solidFill>
                <a:latin typeface="Segoe UI"/>
                <a:ea typeface="Segoe UI"/>
                <a:cs typeface="Segoe UI"/>
              </a:rPr>
              <a:t>Store </a:t>
            </a:r>
            <a:r>
              <a:rPr sz="1650" b="1">
                <a:solidFill>
                  <a:srgbClr val="2086A5"/>
                </a:solidFill>
                <a:latin typeface="Segoe UI"/>
                <a:ea typeface="Segoe UI"/>
                <a:cs typeface="Segoe UI"/>
              </a:rPr>
              <a:t>and </a:t>
            </a:r>
            <a:r>
              <a:rPr sz="1650" b="1">
                <a:solidFill>
                  <a:srgbClr val="136EB6"/>
                </a:solidFill>
                <a:latin typeface="Segoe UI"/>
                <a:ea typeface="Segoe UI"/>
                <a:cs typeface="Segoe UI"/>
              </a:rPr>
              <a:t>SKU </a:t>
            </a:r>
            <a:r>
              <a:rPr sz="1650" b="1">
                <a:solidFill>
                  <a:srgbClr val="2367B5"/>
                </a:solidFill>
                <a:latin typeface="Segoe UI"/>
                <a:ea typeface="Segoe UI"/>
                <a:cs typeface="Segoe UI"/>
              </a:rPr>
              <a:t>behaviour </a:t>
            </a:r>
            <a:r>
              <a:rPr sz="1650" b="1">
                <a:solidFill>
                  <a:srgbClr val="3A65AF"/>
                </a:solidFill>
                <a:latin typeface="Segoe UI"/>
                <a:ea typeface="Segoe UI"/>
                <a:cs typeface="Segoe UI"/>
              </a:rPr>
              <a:t>becomes </a:t>
            </a:r>
            <a:r>
              <a:rPr sz="1650" b="1">
                <a:solidFill>
                  <a:srgbClr val="5163A8"/>
                </a:solidFill>
                <a:latin typeface="Segoe UI"/>
                <a:ea typeface="Segoe UI"/>
                <a:cs typeface="Segoe UI"/>
              </a:rPr>
              <a:t>knowledge </a:t>
            </a:r>
            <a:r>
              <a:rPr sz="1650" b="1">
                <a:solidFill>
                  <a:srgbClr val="6960A2"/>
                </a:solidFill>
                <a:latin typeface="Segoe UI"/>
                <a:ea typeface="Segoe UI"/>
                <a:cs typeface="Segoe UI"/>
              </a:rPr>
              <a:t>whose </a:t>
            </a:r>
            <a:r>
              <a:rPr sz="1650" b="1">
                <a:solidFill>
                  <a:srgbClr val="805E9C"/>
                </a:solidFill>
                <a:latin typeface="Segoe UI"/>
                <a:ea typeface="Segoe UI"/>
                <a:cs typeface="Segoe UI"/>
              </a:rPr>
              <a:t>weight </a:t>
            </a:r>
            <a:r>
              <a:rPr sz="1650" b="1">
                <a:solidFill>
                  <a:srgbClr val="975C96"/>
                </a:solidFill>
                <a:latin typeface="Segoe UI"/>
                <a:ea typeface="Segoe UI"/>
                <a:cs typeface="Segoe UI"/>
              </a:rPr>
              <a:t>is </a:t>
            </a:r>
            <a:r>
              <a:rPr sz="1650" b="1">
                <a:solidFill>
                  <a:srgbClr val="AE5A90"/>
                </a:solidFill>
                <a:latin typeface="Segoe UI"/>
                <a:ea typeface="Segoe UI"/>
                <a:cs typeface="Segoe UI"/>
              </a:rPr>
              <a:t>measured, </a:t>
            </a:r>
            <a:r>
              <a:rPr sz="1650" b="1">
                <a:solidFill>
                  <a:srgbClr val="C65789"/>
                </a:solidFill>
                <a:latin typeface="Segoe UI"/>
                <a:ea typeface="Segoe UI"/>
                <a:cs typeface="Segoe UI"/>
              </a:rPr>
              <a:t>never </a:t>
            </a:r>
            <a:r>
              <a:rPr sz="1650" b="1">
                <a:solidFill>
                  <a:srgbClr val="DD5583"/>
                </a:solidFill>
                <a:latin typeface="Segoe UI"/>
                <a:ea typeface="Segoe UI"/>
                <a:cs typeface="Segoe UI"/>
              </a:rPr>
              <a:t>declared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55648"/>
            <a:ext cx="562356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975104"/>
            <a:ext cx="4855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Lifecycle of a knowledge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" y="2542032"/>
            <a:ext cx="82296" cy="402336"/>
          </a:xfrm>
          <a:prstGeom prst="rect">
            <a:avLst/>
          </a:prstGeom>
          <a:solidFill>
            <a:srgbClr val="A736AE"/>
          </a:solidFill>
          <a:ln w="12700">
            <a:solidFill>
              <a:srgbClr val="A73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450591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A736AE"/>
                </a:solidFill>
                <a:latin typeface="Consolas"/>
                <a:ea typeface="Consolas"/>
                <a:cs typeface="Consolas"/>
              </a:rPr>
              <a:t>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70662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Recorded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450591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Published inert at review time, zero 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3182112"/>
            <a:ext cx="82296" cy="402336"/>
          </a:xfrm>
          <a:prstGeom prst="rect">
            <a:avLst/>
          </a:prstGeom>
          <a:solidFill>
            <a:srgbClr val="843DAB"/>
          </a:solidFill>
          <a:ln w="12700">
            <a:solidFill>
              <a:srgbClr val="843D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309067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43DAB"/>
                </a:solidFill>
                <a:latin typeface="Consolas"/>
                <a:ea typeface="Consolas"/>
                <a:cs typeface="Consolas"/>
              </a:rPr>
              <a:t>SHADOW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334670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Watched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090672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Tracked once five or more outcomes are settled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3822191"/>
            <a:ext cx="82296" cy="402336"/>
          </a:xfrm>
          <a:prstGeom prst="rect">
            <a:avLst/>
          </a:prstGeom>
          <a:solidFill>
            <a:srgbClr val="6244A7"/>
          </a:solidFill>
          <a:ln w="12700">
            <a:solidFill>
              <a:srgbClr val="624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7307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244A7"/>
                </a:solidFill>
                <a:latin typeface="Consolas"/>
                <a:ea typeface="Consolas"/>
                <a:cs typeface="Consolas"/>
              </a:rPr>
              <a:t>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98678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Applied by 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730752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Wilson lower bound clears 0.5, weight applies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4462271"/>
            <a:ext cx="82296" cy="402336"/>
          </a:xfrm>
          <a:prstGeom prst="rect">
            <a:avLst/>
          </a:prstGeom>
          <a:solidFill>
            <a:srgbClr val="3F4AA4"/>
          </a:solidFill>
          <a:ln w="12700">
            <a:solidFill>
              <a:srgbClr val="3F4A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370831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F4AA4"/>
                </a:solidFill>
                <a:latin typeface="Consolas"/>
                <a:ea typeface="Consolas"/>
                <a:cs typeface="Consolas"/>
              </a:rPr>
              <a:t>RETIRED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626864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Removed for 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4370831"/>
            <a:ext cx="27980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Evidence turns, weight returns to zero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0256" y="1755648"/>
            <a:ext cx="4882896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1975104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014"/>
                </a:solidFill>
                <a:latin typeface="Segoe UI"/>
                <a:ea typeface="Segoe UI"/>
                <a:cs typeface="Segoe UI"/>
              </a:rPr>
              <a:t>Accuracy 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2450591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Segoe UI"/>
                <a:ea typeface="Segoe UI"/>
                <a:cs typeface="Segoe UI"/>
              </a:rPr>
              <a:t>Engine vs human MAE / MAPE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450591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Compared side by side on the same 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090672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Segoe UI"/>
                <a:ea typeface="Segoe UI"/>
                <a:cs typeface="Segoe UI"/>
              </a:rPr>
              <a:t>Override 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090672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Win / loss / tie, by store and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3730752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Segoe UI"/>
                <a:ea typeface="Segoe UI"/>
                <a:cs typeface="Segoe UI"/>
              </a:rPr>
              <a:t>Stockout and overstock 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3730752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The two real costs behind the figure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4370831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5446A6"/>
                </a:solidFill>
                <a:latin typeface="Segoe UI"/>
                <a:ea typeface="Segoe UI"/>
                <a:cs typeface="Segoe UI"/>
              </a:rPr>
              <a:t>Grouped by cause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4370831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3A40"/>
                </a:solidFill>
                <a:latin typeface="Segoe UI"/>
                <a:ea typeface="Segoe UI"/>
                <a:cs typeface="Segoe UI"/>
              </a:rPr>
              <a:t>Which causes actually move accuracy</a:t>
            </a:r>
          </a:p>
        </p:txBody>
      </p:sp>
      <p:pic>
        <p:nvPicPr>
          <p:cNvPr id="32" name="Picture 31" descr="pill_2603_136_31_A736AE_1C51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48656"/>
            <a:ext cx="10817352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5800" y="5248656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New knowledge ships silent: recorded first, validated next, allowed to move quantities last.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76747C"/>
                </a:solidFill>
                <a:latin typeface="Segoe UI"/>
                <a:ea typeface="Segoe UI"/>
                <a:cs typeface="Segoe UI"/>
              </a:rPr>
              <a:t>The differences between stores and SKUs end up as knowledge that keeps raising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and runtime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</a:t>
            </a:r>
            <a:r>
              <a:rPr lang="en-US" sz="1650" b="1" dirty="0">
                <a:solidFill>
                  <a:srgbClr val="0E6A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</a:t>
            </a:r>
            <a:r>
              <a:rPr lang="en-US" sz="1650" b="1" dirty="0">
                <a:solidFill>
                  <a:srgbClr val="4F5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</a:t>
            </a:r>
            <a:r>
              <a:rPr lang="en-US" sz="1650" b="1" dirty="0">
                <a:solidFill>
                  <a:srgbClr val="8B4F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multi-replica </a:t>
            </a:r>
            <a:r>
              <a:rPr lang="en-US" sz="1650" b="1" dirty="0">
                <a:solidFill>
                  <a:srgbClr val="C74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3544" y="2084832"/>
            <a:ext cx="82296" cy="402336"/>
          </a:xfrm>
          <a:prstGeom prst="roundRect">
            <a:avLst>
              <a:gd name="adj" fmla="val 50000"/>
            </a:avLst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37560" y="1874520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 replenishment and review 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825496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3544" y="3035808"/>
            <a:ext cx="82296" cy="402336"/>
          </a:xfrm>
          <a:prstGeom prst="roundRect">
            <a:avLst>
              <a:gd name="adj" fmla="val 50000"/>
            </a:avLst>
          </a:prstGeom>
          <a:solidFill>
            <a:srgbClr val="793FA9"/>
          </a:solidFill>
          <a:ln w="12700">
            <a:solidFill>
              <a:srgbClr val="793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61288" y="282549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2825496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serving replenishment, attribution, review and submit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76472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3544" y="3986784"/>
            <a:ext cx="82296" cy="402336"/>
          </a:xfrm>
          <a:prstGeom prst="roundRect">
            <a:avLst>
              <a:gd name="adj" fmla="val 50000"/>
            </a:avLst>
          </a:prstGeom>
          <a:solidFill>
            <a:srgbClr val="4A48A5"/>
          </a:solidFill>
          <a:ln w="12700">
            <a:solidFill>
              <a:srgbClr val="4A48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61288" y="37764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worker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3776472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In-process lease scheduling across replicas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27448"/>
            <a:ext cx="649205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" y="4937760"/>
            <a:ext cx="82296" cy="402336"/>
          </a:xfrm>
          <a:prstGeom prst="roundRect">
            <a:avLst>
              <a:gd name="adj" fmla="val 50000"/>
            </a:avLst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1288" y="47274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37560" y="4727448"/>
            <a:ext cx="36208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Database for PostgreSQL, holding daily sales, outcomes and knowledge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88753" y="1874520"/>
            <a:ext cx="4017142" cy="3675888"/>
          </a:xfrm>
          <a:prstGeom prst="roundRect">
            <a:avLst>
              <a:gd name="adj" fmla="val 3483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54513" y="2103120"/>
            <a:ext cx="3285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24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characteristics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54513" y="2523744"/>
            <a:ext cx="326733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backend replicas by default, four worker slots each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 for Foundry and PostgreSQL, no static secrets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Insights and Log Analytics across the whole path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output follows the UI language, consistent in both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console exposes backlog, batch progress and diagnostics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74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end to end locally on SQLite, with no cloud resources required.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and next steps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Turning </a:t>
            </a:r>
            <a:r>
              <a:rPr lang="en-US" sz="1650" b="1" dirty="0">
                <a:solidFill>
                  <a:srgbClr val="1D81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50" b="1" dirty="0">
                <a:solidFill>
                  <a:srgbClr val="166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one-off </a:t>
            </a:r>
            <a:r>
              <a:rPr lang="en-US" sz="1650" b="1" dirty="0">
                <a:solidFill>
                  <a:srgbClr val="326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</a:t>
            </a:r>
            <a:r>
              <a:rPr lang="en-US" sz="1650" b="1" dirty="0">
                <a:solidFill>
                  <a:srgbClr val="4F63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into </a:t>
            </a:r>
            <a:r>
              <a:rPr lang="en-US" sz="1650" b="1" dirty="0">
                <a:solidFill>
                  <a:srgbClr val="6B60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50" b="1" dirty="0">
                <a:solidFill>
                  <a:srgbClr val="885D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measured, </a:t>
            </a:r>
            <a:r>
              <a:rPr lang="en-US" sz="1650" b="1" dirty="0">
                <a:solidFill>
                  <a:srgbClr val="A45B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</a:t>
            </a:r>
            <a:r>
              <a:rPr lang="en-US" sz="1650" b="1" dirty="0">
                <a:solidFill>
                  <a:srgbClr val="C158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</a:t>
            </a:r>
            <a:r>
              <a:rPr lang="en-US" sz="165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99434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2249424"/>
            <a:ext cx="384048" cy="82296"/>
          </a:xfrm>
          <a:prstGeom prst="roundRect">
            <a:avLst>
              <a:gd name="adj" fmla="val 50000"/>
            </a:avLst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2432304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9848" y="2871216"/>
            <a:ext cx="263133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override carries a structured cause, evidence references and a review record that can be reused later.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6130" y="2011680"/>
            <a:ext cx="3399434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80178" y="2249424"/>
            <a:ext cx="384048" cy="82296"/>
          </a:xfrm>
          <a:prstGeom prst="roundRect">
            <a:avLst>
              <a:gd name="adj" fmla="val 50000"/>
            </a:avLst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0178" y="2432304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Improvable parameters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0178" y="2871216"/>
            <a:ext cx="263133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Conclusions point at specific causes and, once validated, feed back into replenishment parameters by weight.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6461" y="2011680"/>
            <a:ext cx="3399434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90509" y="2249424"/>
            <a:ext cx="384048" cy="82296"/>
          </a:xfrm>
          <a:prstGeom prst="roundRect">
            <a:avLst>
              <a:gd name="adj" fmla="val 50000"/>
            </a:avLst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90509" y="2432304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Contained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90509" y="2871216"/>
            <a:ext cx="263133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unexplained residual is surfaced explicitly, so human attention goes to what is genuinely uncertain.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224528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5400000" algn="bl" rotWithShape="0">
              <a:srgbClr val="9C9AA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88136" y="4425696"/>
            <a:ext cx="100154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0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88136" y="4892040"/>
            <a:ext cx="164592" cy="164592"/>
          </a:xfrm>
          <a:prstGeom prst="ellipse">
            <a:avLst/>
          </a:prstGeom>
          <a:solidFill>
            <a:srgbClr val="A736AE"/>
          </a:solidFill>
          <a:ln w="12700">
            <a:solidFill>
              <a:srgbClr val="A73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80744" y="480974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diagnostics: local events, weather, competitor moves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6610" y="4892040"/>
            <a:ext cx="164592" cy="164592"/>
          </a:xfrm>
          <a:prstGeom prst="ellipse">
            <a:avLst/>
          </a:prstGeom>
          <a:solidFill>
            <a:srgbClr val="6244A7"/>
          </a:solidFill>
          <a:ln w="12700">
            <a:solidFill>
              <a:srgbClr val="6244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19218" y="480974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validated knowledge back into parameters and forecasts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65085" y="4892040"/>
            <a:ext cx="164592" cy="164592"/>
          </a:xfrm>
          <a:prstGeom prst="ellipse">
            <a:avLst/>
          </a:prstGeom>
          <a:solidFill>
            <a:srgbClr val="1C51A0"/>
          </a:solidFill>
          <a:ln w="12700">
            <a:solidFill>
              <a:srgbClr val="1C5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57693" y="480974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3B3A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weekly accuracy reviews per store and category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7607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</a:t>
            </a:r>
            <a:r>
              <a:rPr lang="en-US" sz="1600" b="1" dirty="0">
                <a:solidFill>
                  <a:srgbClr val="228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</a:t>
            </a:r>
            <a:r>
              <a:rPr lang="en-US" sz="1600" b="1" dirty="0">
                <a:solidFill>
                  <a:srgbClr val="157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</a:t>
            </a:r>
            <a:r>
              <a:rPr lang="en-US" sz="1600" b="1" dirty="0">
                <a:solidFill>
                  <a:srgbClr val="1D68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becomes </a:t>
            </a:r>
            <a:r>
              <a:rPr lang="en-US" sz="1600" b="1" dirty="0">
                <a:solidFill>
                  <a:srgbClr val="326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00" b="1" dirty="0">
                <a:solidFill>
                  <a:srgbClr val="4864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</a:t>
            </a:r>
            <a:r>
              <a:rPr lang="en-US" sz="1600" b="1" dirty="0">
                <a:solidFill>
                  <a:srgbClr val="5D62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</a:t>
            </a:r>
            <a:r>
              <a:rPr lang="en-US" sz="1600" b="1" dirty="0">
                <a:solidFill>
                  <a:srgbClr val="725F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</a:t>
            </a:r>
            <a:r>
              <a:rPr lang="en-US" sz="1600" b="1" dirty="0">
                <a:solidFill>
                  <a:srgbClr val="885D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</a:t>
            </a:r>
            <a:r>
              <a:rPr lang="en-US" sz="1600" b="1" dirty="0">
                <a:solidFill>
                  <a:srgbClr val="9D5B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600" b="1" dirty="0">
                <a:solidFill>
                  <a:srgbClr val="B25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</a:t>
            </a:r>
            <a:r>
              <a:rPr lang="en-US" sz="1600" b="1" dirty="0">
                <a:solidFill>
                  <a:srgbClr val="C85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suggestion </a:t>
            </a:r>
            <a:r>
              <a:rPr lang="en-US" sz="1600" b="1" dirty="0">
                <a:solidFill>
                  <a:srgbClr val="DD55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1059</Words>
  <Application>Microsoft Office PowerPoint</Application>
  <PresentationFormat>Widescreen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Store Replenishment &amp; Attribution</dc:title>
  <dc:subject>PptxGenJS Presentation</dc:subject>
  <dc:creator>DMall Supply Chain</dc:creator>
  <cp:lastModifiedBy>Ming(George) Gu</cp:lastModifiedBy>
  <cp:revision>2</cp:revision>
  <dcterms:created xsi:type="dcterms:W3CDTF">2026-07-28T02:06:56Z</dcterms:created>
  <dcterms:modified xsi:type="dcterms:W3CDTF">2026-07-28T05:16:21Z</dcterms:modified>
</cp:coreProperties>
</file>