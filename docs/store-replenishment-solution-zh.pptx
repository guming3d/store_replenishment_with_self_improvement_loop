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16"/>
    <p:sldId id="266" r:id="rId17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10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4418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365760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35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</a:t>
            </a:r>
            <a:r>
              <a:rPr lang="en-US" sz="3500" b="1" dirty="0" err="1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补货系统</a:t>
            </a:r>
            <a:r>
              <a:rPr lang="zh-CN" altLang="en-US" sz="35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归因模块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85800" y="4553712"/>
            <a:ext cx="8778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确定性引擎负责算量，Agent 负责判断证据，</a:t>
            </a:r>
            <a:endParaRPr lang="en-US" sz="1400" dirty="0"/>
          </a:p>
          <a:p>
            <a:pPr marL="0" indent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每一次改量都留下可追溯、可复现的原因。</a:t>
            </a:r>
            <a:endParaRPr lang="en-US" sz="1400" dirty="0"/>
          </a:p>
        </p:txBody>
      </p:sp>
      <p:pic>
        <p:nvPicPr>
          <p:cNvPr id="5" name="Image 1" descr="C:\Users\minggu\code\dmall_supply_chain\.deck_build\pills\pill_2720_420_210_A736AE_1C51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559552"/>
            <a:ext cx="2487168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555955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 (s, S) 引擎</a:t>
            </a:r>
            <a:endParaRPr lang="en-US" sz="1050" dirty="0"/>
          </a:p>
        </p:txBody>
      </p:sp>
      <p:pic>
        <p:nvPicPr>
          <p:cNvPr id="7" name="Image 2" descr="C:\Users\minggu\code\dmall_supply_chain\.deck_build\pills\pill_2720_420_210_A736AE_1C51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5559552"/>
            <a:ext cx="2487168" cy="3840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74136" y="555955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可插拔诊断 Agent</a:t>
            </a:r>
            <a:endParaRPr lang="en-US" sz="1050" dirty="0"/>
          </a:p>
        </p:txBody>
      </p:sp>
      <p:pic>
        <p:nvPicPr>
          <p:cNvPr id="9" name="Image 3" descr="C:\Users\minggu\code\dmall_supply_chain\.deck_build\pills\pill_2720_420_210_A736AE_1C51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5559552"/>
            <a:ext cx="2487168" cy="3840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062472" y="555955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强制归因审核闸门</a:t>
            </a:r>
            <a:endParaRPr lang="en-US" sz="1050" dirty="0"/>
          </a:p>
        </p:txBody>
      </p:sp>
      <p:sp>
        <p:nvSpPr>
          <p:cNvPr id="11" name="Text 5"/>
          <p:cNvSpPr/>
          <p:nvPr/>
        </p:nvSpPr>
        <p:spPr>
          <a:xfrm>
            <a:off x="685800" y="62910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4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Agent Framework · Azure AI Foundry · Azure Container Apps · Azure Database for PostgreSQL</a:t>
            </a:r>
            <a:endParaRPr lang="en-US" sz="950" dirty="0"/>
          </a:p>
        </p:txBody>
      </p:sp>
      <p:pic>
        <p:nvPicPr>
          <p:cNvPr id="13" name="Image 0" descr="Abstract supply chain network hero background">
            <a:extLst>
              <a:ext uri="{FF2B5EF4-FFF2-40B4-BE49-F238E27FC236}">
                <a16:creationId xmlns:a16="http://schemas.microsoft.com/office/drawing/2014/main" id="{4B25ACD8-944B-6FF0-23D6-F0B8313DCE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213" b="25213"/>
          <a:stretch>
            <a:fillRect/>
          </a:stretch>
        </p:blipFill>
        <p:spPr>
          <a:xfrm>
            <a:off x="0" y="0"/>
            <a:ext cx="12191695" cy="3401568"/>
          </a:xfrm>
          <a:prstGeom prst="rect">
            <a:avLst/>
          </a:prstGeom>
        </p:spPr>
      </p:pic>
      <p:pic>
        <p:nvPicPr>
          <p:cNvPr id="14" name="Picture 13" descr="pill_598_92_46_A736AE_1C51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08" y="5559552"/>
            <a:ext cx="248716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50808" y="5559552"/>
            <a:ext cx="24871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实测驱动的知识闭环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9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</a:rPr>
              <a:t>智能补货系统痛点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</a:t>
            </a:r>
            <a:r>
              <a:rPr lang="en-US" sz="1650" b="1" dirty="0">
                <a:solidFill>
                  <a:srgbClr val="2794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</a:t>
            </a:r>
            <a:r>
              <a:rPr lang="en-US" sz="1650" b="1" dirty="0">
                <a:solidFill>
                  <a:srgbClr val="228A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</a:t>
            </a:r>
            <a:r>
              <a:rPr lang="en-US" sz="1650" b="1" dirty="0">
                <a:solidFill>
                  <a:srgbClr val="1B80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</a:t>
            </a:r>
            <a:r>
              <a:rPr lang="en-US" sz="1650" b="1" dirty="0">
                <a:solidFill>
                  <a:srgbClr val="157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</a:t>
            </a:r>
            <a:r>
              <a:rPr lang="en-US" sz="1650" b="1" dirty="0">
                <a:solidFill>
                  <a:srgbClr val="116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</a:t>
            </a:r>
            <a:r>
              <a:rPr lang="en-US" sz="1650" b="1" dirty="0">
                <a:solidFill>
                  <a:srgbClr val="186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</a:t>
            </a:r>
            <a:r>
              <a:rPr lang="en-US" sz="1650" b="1" dirty="0">
                <a:solidFill>
                  <a:srgbClr val="256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650" b="1" dirty="0">
                <a:solidFill>
                  <a:srgbClr val="3160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</a:t>
            </a:r>
            <a:r>
              <a:rPr lang="en-US" sz="1650" b="1" dirty="0">
                <a:solidFill>
                  <a:srgbClr val="3D5C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</a:t>
            </a:r>
            <a:r>
              <a:rPr lang="en-US" sz="1650" b="1" dirty="0">
                <a:solidFill>
                  <a:srgbClr val="4A59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</a:t>
            </a:r>
            <a:r>
              <a:rPr lang="en-US" sz="1650" b="1" dirty="0">
                <a:solidFill>
                  <a:srgbClr val="565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</a:t>
            </a:r>
            <a:r>
              <a:rPr lang="en-US" sz="1650" b="1" dirty="0">
                <a:solidFill>
                  <a:srgbClr val="6155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</a:t>
            </a:r>
            <a:r>
              <a:rPr lang="en-US" sz="1650" b="1" dirty="0">
                <a:solidFill>
                  <a:srgbClr val="6D5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r>
              <a:rPr lang="en-US" sz="1650" b="1" dirty="0">
                <a:solidFill>
                  <a:srgbClr val="7951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r>
              <a:rPr lang="en-US" sz="1650" b="1" dirty="0">
                <a:solidFill>
                  <a:srgbClr val="8450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r>
              <a:rPr lang="en-US" sz="1650" b="1" dirty="0">
                <a:solidFill>
                  <a:srgbClr val="8F4E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</a:t>
            </a:r>
            <a:r>
              <a:rPr lang="en-US" sz="1650" b="1" dirty="0">
                <a:solidFill>
                  <a:srgbClr val="9C4E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650" b="1" dirty="0">
                <a:solidFill>
                  <a:srgbClr val="A74D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</a:t>
            </a:r>
            <a:r>
              <a:rPr lang="en-US" sz="1650" b="1" dirty="0">
                <a:solidFill>
                  <a:srgbClr val="B24C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</a:t>
            </a:r>
            <a:r>
              <a:rPr lang="en-US" sz="1650" b="1" dirty="0">
                <a:solidFill>
                  <a:srgbClr val="BE4B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</a:t>
            </a:r>
            <a:r>
              <a:rPr lang="en-US" sz="1650" b="1" dirty="0">
                <a:solidFill>
                  <a:srgbClr val="C74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r>
              <a:rPr lang="en-US" sz="1650" b="1" dirty="0">
                <a:solidFill>
                  <a:srgbClr val="CC4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</a:t>
            </a:r>
            <a:r>
              <a:rPr lang="en-US" sz="1650" b="1" dirty="0">
                <a:solidFill>
                  <a:srgbClr val="D14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</a:t>
            </a:r>
            <a:r>
              <a:rPr lang="en-US" sz="1650" b="1" dirty="0">
                <a:solidFill>
                  <a:srgbClr val="D451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</a:t>
            </a:r>
            <a:r>
              <a:rPr lang="en-US" sz="1650" b="1" dirty="0">
                <a:solidFill>
                  <a:srgbClr val="D95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</a:t>
            </a:r>
            <a:r>
              <a:rPr lang="en-US" sz="1650" b="1" dirty="0">
                <a:solidFill>
                  <a:srgbClr val="DD5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么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399434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2377440"/>
            <a:ext cx="457200" cy="457200"/>
          </a:xfrm>
          <a:prstGeom prst="ellipse">
            <a:avLst/>
          </a:prstGeom>
          <a:solidFill>
            <a:srgbClr val="A736AE"/>
          </a:solidFill>
          <a:ln w="12700">
            <a:solidFill>
              <a:srgbClr val="A73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984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9848" y="2962656"/>
            <a:ext cx="26313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改动缺少结构化依据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9848" y="3529584"/>
            <a:ext cx="26313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原因写在聊天记录或自由文本里，系统读不到，也没法校验。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6130" y="2103120"/>
            <a:ext cx="3399434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80178" y="2377440"/>
            <a:ext cx="457200" cy="457200"/>
          </a:xfrm>
          <a:prstGeom prst="ellipse">
            <a:avLst/>
          </a:prstGeom>
          <a:solidFill>
            <a:srgbClr val="6244A7"/>
          </a:solidFill>
          <a:ln w="12700">
            <a:solidFill>
              <a:srgbClr val="6244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8017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80178" y="2962656"/>
            <a:ext cx="26313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事后无法复盘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80178" y="3529584"/>
            <a:ext cx="26313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分不清究竟是季节波动、节假日备货、替代品需求转移，还是一次纯粹的判断偏差。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6461" y="2103120"/>
            <a:ext cx="3399434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90509" y="2377440"/>
            <a:ext cx="457200" cy="457200"/>
          </a:xfrm>
          <a:prstGeom prst="ellipse">
            <a:avLst/>
          </a:prstGeom>
          <a:solidFill>
            <a:srgbClr val="1C51A0"/>
          </a:solidFill>
          <a:ln w="12700">
            <a:solidFill>
              <a:srgbClr val="1C5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90509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90509" y="2962656"/>
            <a:ext cx="26313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经验留不下来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90509" y="3529584"/>
            <a:ext cx="26313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同类改动反复出现，却回流不到补货参数与模型，下个月照样再改一遍。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74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改完之后，没人说得清当时为什么改。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三层结构：算量、判断、审核各归其位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</a:t>
            </a:r>
            <a:r>
              <a:rPr lang="en-US" sz="1650" b="1" dirty="0">
                <a:solidFill>
                  <a:srgbClr val="2691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r>
              <a:rPr lang="en-US" sz="1650" b="1" dirty="0">
                <a:solidFill>
                  <a:srgbClr val="1E84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</a:t>
            </a:r>
            <a:r>
              <a:rPr lang="en-US" sz="1650" b="1" dirty="0">
                <a:solidFill>
                  <a:srgbClr val="167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sz="1650" b="1" dirty="0">
                <a:solidFill>
                  <a:srgbClr val="126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</a:t>
            </a:r>
            <a:r>
              <a:rPr lang="en-US" sz="1650" b="1" dirty="0">
                <a:solidFill>
                  <a:srgbClr val="1E6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</a:t>
            </a:r>
            <a:r>
              <a:rPr lang="en-US" sz="1650" b="1" dirty="0">
                <a:solidFill>
                  <a:srgbClr val="2E6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</a:t>
            </a:r>
            <a:r>
              <a:rPr lang="en-US" sz="1650" b="1" dirty="0">
                <a:solidFill>
                  <a:srgbClr val="3E5C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</a:t>
            </a:r>
            <a:r>
              <a:rPr lang="en-US" sz="1650" b="1" dirty="0">
                <a:solidFill>
                  <a:srgbClr val="4F58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r>
              <a:rPr lang="en-US" sz="1650" b="1" dirty="0">
                <a:solidFill>
                  <a:srgbClr val="5E5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</a:t>
            </a:r>
            <a:r>
              <a:rPr lang="en-US" sz="1650" b="1" dirty="0">
                <a:solidFill>
                  <a:srgbClr val="6D5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650" b="1" dirty="0">
                <a:solidFill>
                  <a:srgbClr val="7C5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</a:t>
            </a:r>
            <a:r>
              <a:rPr lang="en-US" sz="1650" b="1" dirty="0">
                <a:solidFill>
                  <a:srgbClr val="8B4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</a:t>
            </a:r>
            <a:r>
              <a:rPr lang="en-US" sz="1650" b="1" dirty="0">
                <a:solidFill>
                  <a:srgbClr val="9A4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</a:t>
            </a:r>
            <a:r>
              <a:rPr lang="en-US" sz="1650" b="1" dirty="0">
                <a:solidFill>
                  <a:srgbClr val="A94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</a:t>
            </a:r>
            <a:r>
              <a:rPr lang="en-US" sz="1650" b="1" dirty="0">
                <a:solidFill>
                  <a:srgbClr val="B84B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r>
              <a:rPr lang="en-US" sz="1650" b="1" dirty="0">
                <a:solidFill>
                  <a:srgbClr val="C54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</a:t>
            </a:r>
            <a:r>
              <a:rPr lang="en-US" sz="1650" b="1" dirty="0">
                <a:solidFill>
                  <a:srgbClr val="CD4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</a:t>
            </a:r>
            <a:r>
              <a:rPr lang="en-US" sz="1650" b="1" dirty="0">
                <a:solidFill>
                  <a:srgbClr val="D250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</a:t>
            </a:r>
            <a:r>
              <a:rPr lang="en-US" sz="1650" b="1" dirty="0">
                <a:solidFill>
                  <a:srgbClr val="D85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</a:t>
            </a:r>
            <a:r>
              <a:rPr lang="en-US" sz="1650" b="1" dirty="0">
                <a:solidFill>
                  <a:srgbClr val="DD5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2084832"/>
            <a:ext cx="3399434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minggu\code\dmall_supply_chain\.deck_build\pills\pill_2677_440_220_A736AE_1C51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721" y="1883664"/>
            <a:ext cx="2447593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721" y="1883664"/>
            <a:ext cx="24475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· 计算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51560" y="2487168"/>
            <a:ext cx="2667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确定性补货引擎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3200400"/>
            <a:ext cx="26679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(s, S) 策略基于冻结的库存、参数与需求快照计算建议量，同样的输入永远得到同样的结果。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234440" y="4407408"/>
            <a:ext cx="2302154" cy="10973"/>
          </a:xfrm>
          <a:prstGeom prst="rect">
            <a:avLst/>
          </a:prstGeom>
          <a:solidFill>
            <a:srgbClr val="E4E2E7"/>
          </a:solidFill>
          <a:ln w="12700">
            <a:solidFill>
              <a:srgbClr val="E4E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51560" y="4517136"/>
            <a:ext cx="26679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544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输出建议数量、库存位置与计算解释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96130" y="2084832"/>
            <a:ext cx="3399434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C:\Users\minggu\code\dmall_supply_chain\.deck_build\pills\pill_2677_440_220_A736AE_1C51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051" y="1883664"/>
            <a:ext cx="2447593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72051" y="1883664"/>
            <a:ext cx="24475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判断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761890" y="2487168"/>
            <a:ext cx="2667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可插拔诊断 Agent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61890" y="3200400"/>
            <a:ext cx="26679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季节性 / </a:t>
            </a:r>
            <a:r>
              <a:rPr lang="en-US" sz="1150" dirty="0" err="1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节假日诊断与替代品诊断只回答一件事：这条证据是否成立</a:t>
            </a:r>
            <a:r>
              <a:rPr lang="en-US" sz="11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944770" y="4407408"/>
            <a:ext cx="2302154" cy="10973"/>
          </a:xfrm>
          <a:prstGeom prst="rect">
            <a:avLst/>
          </a:prstGeom>
          <a:solidFill>
            <a:srgbClr val="E4E2E7"/>
          </a:solidFill>
          <a:ln w="12700">
            <a:solidFill>
              <a:srgbClr val="E4E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761890" y="4517136"/>
            <a:ext cx="26679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544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新增一个诊断域即新增一个 Agent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06461" y="2084832"/>
            <a:ext cx="3399434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C:\Users\minggu\code\dmall_supply_chain\.deck_build\pills\pill_2677_440_220_A736AE_1C51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382" y="1883664"/>
            <a:ext cx="2447593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82382" y="1883664"/>
            <a:ext cx="24475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 · 定量与审核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472221" y="2487168"/>
            <a:ext cx="2667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归因与人工审核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72221" y="3200400"/>
            <a:ext cx="26679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确定性反事实回放配合 Shapley 分配，得到每个原因的有符号贡献量与占比。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655101" y="4407408"/>
            <a:ext cx="2302154" cy="10973"/>
          </a:xfrm>
          <a:prstGeom prst="rect">
            <a:avLst/>
          </a:prstGeom>
          <a:solidFill>
            <a:srgbClr val="E4E2E7"/>
          </a:solidFill>
          <a:ln w="12700">
            <a:solidFill>
              <a:srgbClr val="E4E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8472221" y="4517136"/>
            <a:ext cx="26679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544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人工审核通过后，补货结果才允许提交</a:t>
            </a:r>
            <a:endParaRPr lang="en-US" sz="1050" dirty="0"/>
          </a:p>
        </p:txBody>
      </p:sp>
      <p:pic>
        <p:nvPicPr>
          <p:cNvPr id="25" name="Image 3" descr="C:\Users\minggu\code\dmall_supply_chain\.deck_build\pills\pill_11833_660_160_A736AE_1C51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504688"/>
            <a:ext cx="10820095" cy="6035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5800" y="550468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模型不产生任何数量：所有件数与占比都由确定性引擎重算得出。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74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数量只由引擎算出，模型和人都改不了。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每日流程：只有改量才触发归因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</a:t>
            </a:r>
            <a:r>
              <a:rPr lang="en-US" sz="1650" b="1" dirty="0">
                <a:solidFill>
                  <a:srgbClr val="2590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</a:t>
            </a:r>
            <a:r>
              <a:rPr lang="en-US" sz="1650" b="1" dirty="0">
                <a:solidFill>
                  <a:srgbClr val="1D8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r>
              <a:rPr lang="en-US" sz="1650" b="1" dirty="0">
                <a:solidFill>
                  <a:srgbClr val="1475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</a:t>
            </a:r>
            <a:r>
              <a:rPr lang="en-US" sz="1650" b="1" dirty="0">
                <a:solidFill>
                  <a:srgbClr val="126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</a:t>
            </a:r>
            <a:r>
              <a:rPr lang="en-US" sz="1650" b="1" dirty="0">
                <a:solidFill>
                  <a:srgbClr val="226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</a:t>
            </a:r>
            <a:r>
              <a:rPr lang="en-US" sz="1650" b="1" dirty="0">
                <a:solidFill>
                  <a:srgbClr val="345F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</a:t>
            </a:r>
            <a:r>
              <a:rPr lang="en-US" sz="1650" b="1" dirty="0">
                <a:solidFill>
                  <a:srgbClr val="455A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r>
              <a:rPr lang="en-US" sz="1650" b="1" dirty="0">
                <a:solidFill>
                  <a:srgbClr val="555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</a:t>
            </a:r>
            <a:r>
              <a:rPr lang="en-US" sz="1650" b="1" dirty="0">
                <a:solidFill>
                  <a:srgbClr val="655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</a:t>
            </a:r>
            <a:r>
              <a:rPr lang="en-US" sz="1650" b="1" dirty="0">
                <a:solidFill>
                  <a:srgbClr val="7552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</a:t>
            </a:r>
            <a:r>
              <a:rPr lang="en-US" sz="1650" b="1" dirty="0">
                <a:solidFill>
                  <a:srgbClr val="8550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</a:t>
            </a:r>
            <a:r>
              <a:rPr lang="en-US" sz="1650" b="1" dirty="0">
                <a:solidFill>
                  <a:srgbClr val="954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650" b="1" dirty="0">
                <a:solidFill>
                  <a:srgbClr val="A44D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</a:t>
            </a:r>
            <a:r>
              <a:rPr lang="en-US" sz="1650" b="1" dirty="0">
                <a:solidFill>
                  <a:srgbClr val="B44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</a:t>
            </a:r>
            <a:r>
              <a:rPr lang="en-US" sz="1650" b="1" dirty="0">
                <a:solidFill>
                  <a:srgbClr val="C44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sz="1650" b="1" dirty="0">
                <a:solidFill>
                  <a:srgbClr val="CC4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</a:t>
            </a:r>
            <a:r>
              <a:rPr lang="en-US" sz="1650" b="1" dirty="0">
                <a:solidFill>
                  <a:srgbClr val="D1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</a:t>
            </a:r>
            <a:r>
              <a:rPr lang="en-US" sz="1650" b="1" dirty="0">
                <a:solidFill>
                  <a:srgbClr val="D75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r>
              <a:rPr lang="en-US" sz="1650" b="1" dirty="0">
                <a:solidFill>
                  <a:srgbClr val="DD5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3511296"/>
            <a:ext cx="126187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" y="3511296"/>
            <a:ext cx="11155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选择门店与日期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02536" y="3941064"/>
            <a:ext cx="9144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48840" y="3511296"/>
            <a:ext cx="126187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21992" y="3511296"/>
            <a:ext cx="11155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系统生成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补货建议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65576" y="3941064"/>
            <a:ext cx="9144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1880" y="3511296"/>
            <a:ext cx="1261872" cy="859536"/>
          </a:xfrm>
          <a:prstGeom prst="roundRect">
            <a:avLst>
              <a:gd name="adj" fmla="val 12766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85032" y="3511296"/>
            <a:ext cx="11155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店员</a:t>
            </a:r>
            <a:r>
              <a:rPr lang="en-US" sz="1100" b="1" dirty="0" err="1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是否修改了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推荐数量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9240" y="2240280"/>
            <a:ext cx="126187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22392" y="2240280"/>
            <a:ext cx="11155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填写修改原因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65976" y="2670048"/>
            <a:ext cx="9144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C:\Users\minggu\code\dmall_supply_chain\.deck_build\pills\pill_1380_940_120_A736AE_1C51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240280"/>
            <a:ext cx="1261872" cy="85953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812280" y="2240280"/>
            <a:ext cx="1261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 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分析证据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29016" y="2670048"/>
            <a:ext cx="9144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275320" y="2240280"/>
            <a:ext cx="126187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348472" y="2240280"/>
            <a:ext cx="11155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归因结论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49240" y="4846320"/>
            <a:ext cx="418795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32120" y="4846320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未改量：确认后直接提交，无需归因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928616" y="3941064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111496" y="2670048"/>
            <a:ext cx="0" cy="2542032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111496" y="2670048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111496" y="5212080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592056" y="2670048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592056" y="5212080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774936" y="2670048"/>
            <a:ext cx="0" cy="2542032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774936" y="3941064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0012680" y="3511296"/>
            <a:ext cx="1493215" cy="859536"/>
          </a:xfrm>
          <a:prstGeom prst="roundRect">
            <a:avLst>
              <a:gd name="adj" fmla="val 12766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085832" y="3511296"/>
            <a:ext cx="134691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提交补货结果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202936" y="1892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44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改了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202936" y="5632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74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没改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74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只有改过的商品才走归因，其余流程和以前一样。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归因如何得出：判断证据，重算数量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</a:t>
            </a:r>
            <a:r>
              <a:rPr lang="en-US" sz="1650" b="1" dirty="0">
                <a:solidFill>
                  <a:srgbClr val="2895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</a:t>
            </a:r>
            <a:r>
              <a:rPr lang="en-US" sz="1650" b="1" dirty="0">
                <a:solidFill>
                  <a:srgbClr val="238C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</a:t>
            </a:r>
            <a:r>
              <a:rPr lang="en-US" sz="1650" b="1" dirty="0">
                <a:solidFill>
                  <a:srgbClr val="1D83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</a:t>
            </a:r>
            <a:r>
              <a:rPr lang="en-US" sz="1650" b="1" dirty="0">
                <a:solidFill>
                  <a:srgbClr val="187A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</a:t>
            </a:r>
            <a:r>
              <a:rPr lang="en-US" sz="1650" b="1" dirty="0">
                <a:solidFill>
                  <a:srgbClr val="127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</a:t>
            </a:r>
            <a:r>
              <a:rPr lang="en-US" sz="1650" b="1" dirty="0">
                <a:solidFill>
                  <a:srgbClr val="106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</a:t>
            </a:r>
            <a:r>
              <a:rPr lang="en-US" sz="1650" b="1" dirty="0">
                <a:solidFill>
                  <a:srgbClr val="1B66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</a:t>
            </a:r>
            <a:r>
              <a:rPr lang="en-US" sz="1650" b="1" dirty="0">
                <a:solidFill>
                  <a:srgbClr val="276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r>
              <a:rPr lang="en-US" sz="1650" b="1" dirty="0">
                <a:solidFill>
                  <a:srgbClr val="3260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r>
              <a:rPr lang="en-US" sz="1650" b="1" dirty="0">
                <a:solidFill>
                  <a:srgbClr val="3D5C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</a:t>
            </a:r>
            <a:r>
              <a:rPr lang="en-US" sz="1650" b="1" dirty="0">
                <a:solidFill>
                  <a:srgbClr val="4859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</a:t>
            </a:r>
            <a:r>
              <a:rPr lang="en-US" sz="1650" b="1" dirty="0">
                <a:solidFill>
                  <a:srgbClr val="535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650" b="1" dirty="0">
                <a:solidFill>
                  <a:srgbClr val="5D5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</a:t>
            </a:r>
            <a:r>
              <a:rPr lang="en-US" sz="1650" b="1" dirty="0">
                <a:solidFill>
                  <a:srgbClr val="685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</a:t>
            </a:r>
            <a:r>
              <a:rPr lang="en-US" sz="1650" b="1" dirty="0">
                <a:solidFill>
                  <a:srgbClr val="7252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r>
              <a:rPr lang="en-US" sz="1650" b="1" dirty="0">
                <a:solidFill>
                  <a:srgbClr val="7D5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</a:t>
            </a:r>
            <a:r>
              <a:rPr lang="en-US" sz="1650" b="1" dirty="0">
                <a:solidFill>
                  <a:srgbClr val="8750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</a:t>
            </a:r>
            <a:r>
              <a:rPr lang="en-US" sz="1650" b="1" dirty="0">
                <a:solidFill>
                  <a:srgbClr val="914E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</a:t>
            </a:r>
            <a:r>
              <a:rPr lang="en-US" sz="1650" b="1" dirty="0">
                <a:solidFill>
                  <a:srgbClr val="9C4E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擎</a:t>
            </a:r>
            <a:r>
              <a:rPr lang="en-US" sz="1650" b="1" dirty="0">
                <a:solidFill>
                  <a:srgbClr val="A64D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</a:t>
            </a:r>
            <a:r>
              <a:rPr lang="en-US" sz="1650" b="1" dirty="0">
                <a:solidFill>
                  <a:srgbClr val="B04C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</a:t>
            </a:r>
            <a:r>
              <a:rPr lang="en-US" sz="1650" b="1" dirty="0">
                <a:solidFill>
                  <a:srgbClr val="BB4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</a:t>
            </a:r>
            <a:r>
              <a:rPr lang="en-US" sz="1650" b="1" dirty="0">
                <a:solidFill>
                  <a:srgbClr val="C54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r>
              <a:rPr lang="en-US" sz="1650" b="1" dirty="0">
                <a:solidFill>
                  <a:srgbClr val="CA4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</a:t>
            </a:r>
            <a:r>
              <a:rPr lang="en-US" sz="1650" b="1" dirty="0">
                <a:solidFill>
                  <a:srgbClr val="CE4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</a:t>
            </a:r>
            <a:r>
              <a:rPr lang="en-US" sz="1650" b="1" dirty="0">
                <a:solidFill>
                  <a:srgbClr val="D2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</a:t>
            </a:r>
            <a:r>
              <a:rPr lang="en-US" sz="1650" b="1" dirty="0">
                <a:solidFill>
                  <a:srgbClr val="D551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</a:t>
            </a:r>
            <a:r>
              <a:rPr lang="en-US" sz="1650" b="1" dirty="0">
                <a:solidFill>
                  <a:srgbClr val="D95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</a:t>
            </a:r>
            <a:r>
              <a:rPr lang="en-US" sz="1650" b="1" dirty="0">
                <a:solidFill>
                  <a:srgbClr val="DD5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944563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56914" y="1956816"/>
            <a:ext cx="402336" cy="402336"/>
          </a:xfrm>
          <a:prstGeom prst="ellipse">
            <a:avLst/>
          </a:prstGeom>
          <a:solidFill>
            <a:srgbClr val="A736AE"/>
          </a:solidFill>
          <a:ln w="12700">
            <a:solidFill>
              <a:srgbClr val="A73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56914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2104" y="2450592"/>
            <a:ext cx="1651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店长改量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2104" y="2871216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记录最终数量与必填原因码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6083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683" y="1783080"/>
            <a:ext cx="1944563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75797" y="1956816"/>
            <a:ext cx="402336" cy="402336"/>
          </a:xfrm>
          <a:prstGeom prst="ellipse">
            <a:avLst/>
          </a:prstGeom>
          <a:solidFill>
            <a:srgbClr val="843DAB"/>
          </a:solidFill>
          <a:ln w="12700">
            <a:solidFill>
              <a:srgbClr val="843D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75797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50987" y="2450592"/>
            <a:ext cx="1651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冻结快照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50987" y="2871216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锁定当时的库存、参数与需求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4966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23566" y="1783080"/>
            <a:ext cx="1944563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94680" y="1956816"/>
            <a:ext cx="402336" cy="402336"/>
          </a:xfrm>
          <a:prstGeom prst="ellipse">
            <a:avLst/>
          </a:prstGeom>
          <a:solidFill>
            <a:srgbClr val="6244A7"/>
          </a:solidFill>
          <a:ln w="12700">
            <a:solidFill>
              <a:srgbClr val="6244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9468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69870" y="2450592"/>
            <a:ext cx="1651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 Agent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69870" y="2871216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判断季节 / 节假日与替代品证据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13849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42449" y="1783080"/>
            <a:ext cx="1944563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13563" y="1956816"/>
            <a:ext cx="402336" cy="402336"/>
          </a:xfrm>
          <a:prstGeom prst="ellipse">
            <a:avLst/>
          </a:prstGeom>
          <a:solidFill>
            <a:srgbClr val="3F4AA4"/>
          </a:solidFill>
          <a:ln w="12700">
            <a:solidFill>
              <a:srgbClr val="3F4A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13563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88753" y="2450592"/>
            <a:ext cx="1651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反事实回放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88753" y="2871216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关掉已成立的证据，重算引擎输出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32732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61332" y="1783080"/>
            <a:ext cx="1944563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332446" y="1956816"/>
            <a:ext cx="402336" cy="402336"/>
          </a:xfrm>
          <a:prstGeom prst="ellipse">
            <a:avLst/>
          </a:prstGeom>
          <a:solidFill>
            <a:srgbClr val="1C51A0"/>
          </a:solidFill>
          <a:ln w="12700">
            <a:solidFill>
              <a:srgbClr val="1C5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332446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707636" y="2450592"/>
            <a:ext cx="1651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分配与残差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07636" y="2871216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Shapley 分配贡献，暴露未解释部分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" y="3657600"/>
            <a:ext cx="10820095" cy="1335024"/>
          </a:xfrm>
          <a:prstGeom prst="roundRect">
            <a:avLst>
              <a:gd name="adj" fmla="val 9589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51560" y="4096512"/>
            <a:ext cx="100885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50" b="1" dirty="0">
                <a:solidFill>
                  <a:srgbClr val="1110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各原因贡献数量  +  未解释数量  =  最终数量 − 去掉证据后的数量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051560" y="4535424"/>
            <a:ext cx="10088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任何一份归因报告都必须让这条等式成立，否则不会进入审核队列。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" y="5138928"/>
            <a:ext cx="52546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78408" y="5422392"/>
            <a:ext cx="146304" cy="146304"/>
          </a:xfrm>
          <a:prstGeom prst="ellipse">
            <a:avLst/>
          </a:prstGeom>
          <a:solidFill>
            <a:srgbClr val="A736AE"/>
          </a:solidFill>
          <a:ln w="12700">
            <a:solidFill>
              <a:srgbClr val="A73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52728" y="5138928"/>
            <a:ext cx="443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每条贡献都可追溯到证据来源、版本与数据新鲜度。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51296" y="5138928"/>
            <a:ext cx="52546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543904" y="5422392"/>
            <a:ext cx="146304" cy="146304"/>
          </a:xfrm>
          <a:prstGeom prst="ellipse">
            <a:avLst/>
          </a:prstGeom>
          <a:solidFill>
            <a:srgbClr val="1C51A0"/>
          </a:solidFill>
          <a:ln w="12700">
            <a:solidFill>
              <a:srgbClr val="1C5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18224" y="5138928"/>
            <a:ext cx="443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报告直接给出已解释比例，覆盖不到的差异标为"未解释"交人工确认。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74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结论可复现：同样的快照与证据，永远得到同样的分配结果。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三条硬约束，让结论经得起质疑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</a:t>
            </a:r>
            <a:r>
              <a:rPr lang="en-US" sz="1650" b="1" dirty="0">
                <a:solidFill>
                  <a:srgbClr val="258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r>
              <a:rPr lang="en-US" sz="1650" b="1" dirty="0">
                <a:solidFill>
                  <a:srgbClr val="1B8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r>
              <a:rPr lang="en-US" sz="1650" b="1" dirty="0">
                <a:solidFill>
                  <a:srgbClr val="1270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</a:t>
            </a:r>
            <a:r>
              <a:rPr lang="en-US" sz="1650" b="1" dirty="0">
                <a:solidFill>
                  <a:srgbClr val="1966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</a:t>
            </a:r>
            <a:r>
              <a:rPr lang="en-US" sz="1650" b="1" dirty="0">
                <a:solidFill>
                  <a:srgbClr val="2D6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</a:t>
            </a:r>
            <a:r>
              <a:rPr lang="en-US" sz="1650" b="1" dirty="0">
                <a:solidFill>
                  <a:srgbClr val="405C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</a:t>
            </a:r>
            <a:r>
              <a:rPr lang="en-US" sz="1650" b="1" dirty="0">
                <a:solidFill>
                  <a:srgbClr val="535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</a:t>
            </a:r>
            <a:r>
              <a:rPr lang="en-US" sz="1650" b="1" dirty="0">
                <a:solidFill>
                  <a:srgbClr val="645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</a:t>
            </a:r>
            <a:r>
              <a:rPr lang="en-US" sz="1650" b="1" dirty="0">
                <a:solidFill>
                  <a:srgbClr val="7652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</a:t>
            </a:r>
            <a:r>
              <a:rPr lang="en-US" sz="1650" b="1" dirty="0">
                <a:solidFill>
                  <a:srgbClr val="8750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</a:t>
            </a:r>
            <a:r>
              <a:rPr lang="en-US" sz="1650" b="1" dirty="0">
                <a:solidFill>
                  <a:srgbClr val="994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</a:t>
            </a:r>
            <a:r>
              <a:rPr lang="en-US" sz="1650" b="1" dirty="0">
                <a:solidFill>
                  <a:srgbClr val="AB4C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sz="1650" b="1" dirty="0">
                <a:solidFill>
                  <a:srgbClr val="BC4B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</a:t>
            </a:r>
            <a:r>
              <a:rPr lang="en-US" sz="1650" b="1" dirty="0">
                <a:solidFill>
                  <a:srgbClr val="C94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</a:t>
            </a:r>
            <a:r>
              <a:rPr lang="en-US" sz="1650" b="1" dirty="0">
                <a:solidFill>
                  <a:srgbClr val="D04E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r>
              <a:rPr lang="en-US" sz="1650" b="1" dirty="0">
                <a:solidFill>
                  <a:srgbClr val="D75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</a:t>
            </a:r>
            <a:r>
              <a:rPr lang="en-US" sz="1650" b="1" dirty="0">
                <a:solidFill>
                  <a:srgbClr val="DD5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399434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56917" y="2121408"/>
            <a:ext cx="457200" cy="457200"/>
          </a:xfrm>
          <a:prstGeom prst="ellipse">
            <a:avLst/>
          </a:prstGeom>
          <a:solidFill>
            <a:srgbClr val="A736AE"/>
          </a:solidFill>
          <a:ln w="12700">
            <a:solidFill>
              <a:srgbClr val="A73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56917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14984" y="2706624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不产生数字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14984" y="3255264"/>
            <a:ext cx="27410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模型只回答证据是否成立。件数与占比由确定性引擎重算，既没有编造的数量，也没有需要解读的评分。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6130" y="1874520"/>
            <a:ext cx="3399434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67248" y="2121408"/>
            <a:ext cx="457200" cy="457200"/>
          </a:xfrm>
          <a:prstGeom prst="ellipse">
            <a:avLst/>
          </a:prstGeom>
          <a:solidFill>
            <a:srgbClr val="6244A7"/>
          </a:solidFill>
          <a:ln w="12700">
            <a:solidFill>
              <a:srgbClr val="6244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6724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25314" y="2706624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每一件都对应证据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25314" y="3255264"/>
            <a:ext cx="27410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结论中的每一件数量都能追到具体原因，并可回看当时冻结的库存、参数与需求快照。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6461" y="1874520"/>
            <a:ext cx="3399434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77578" y="2121408"/>
            <a:ext cx="457200" cy="457200"/>
          </a:xfrm>
          <a:prstGeom prst="ellipse">
            <a:avLst/>
          </a:prstGeom>
          <a:solidFill>
            <a:srgbClr val="1C51A0"/>
          </a:solidFill>
          <a:ln w="12700">
            <a:solidFill>
              <a:srgbClr val="1C5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7757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35645" y="2706624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解释不了就不硬解释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35645" y="3255264"/>
            <a:ext cx="27410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证据覆盖不到的差异会明确标为"未解释"并提示人工确认，而不是凑理由把数字填满。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809744"/>
            <a:ext cx="10820095" cy="1060704"/>
          </a:xfrm>
          <a:prstGeom prst="roundRect">
            <a:avLst>
              <a:gd name="adj" fmla="val 12069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88136" y="4956048"/>
            <a:ext cx="10015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244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可观测性：Agent Trace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88136" y="5248656"/>
            <a:ext cx="100154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每次尝试记录真实的模型调用数、工具调用数、耗时与 Token 用量，并可下载脱敏 JSONL 日志；不记录 Prompt 正文、工具参数值与凭据。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74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出了问题，能查到卡在哪一步。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提交闸门：没有旁路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</a:t>
            </a:r>
            <a:r>
              <a:rPr lang="en-US" sz="1650" b="1" dirty="0">
                <a:solidFill>
                  <a:srgbClr val="2894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</a:t>
            </a:r>
            <a:r>
              <a:rPr lang="en-US" sz="1650" b="1" dirty="0">
                <a:solidFill>
                  <a:srgbClr val="228B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</a:t>
            </a:r>
            <a:r>
              <a:rPr lang="en-US" sz="1650" b="1" dirty="0">
                <a:solidFill>
                  <a:srgbClr val="1C81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</a:t>
            </a:r>
            <a:r>
              <a:rPr lang="en-US" sz="1650" b="1" dirty="0">
                <a:solidFill>
                  <a:srgbClr val="167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r>
              <a:rPr lang="en-US" sz="1650" b="1" dirty="0">
                <a:solidFill>
                  <a:srgbClr val="106E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</a:t>
            </a:r>
            <a:r>
              <a:rPr lang="en-US" sz="1650" b="1" dirty="0">
                <a:solidFill>
                  <a:srgbClr val="1568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</a:t>
            </a:r>
            <a:r>
              <a:rPr lang="en-US" sz="1650" b="1" dirty="0">
                <a:solidFill>
                  <a:srgbClr val="216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</a:t>
            </a:r>
            <a:r>
              <a:rPr lang="en-US" sz="1650" b="1" dirty="0">
                <a:solidFill>
                  <a:srgbClr val="2D6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</a:t>
            </a:r>
            <a:r>
              <a:rPr lang="en-US" sz="1650" b="1" dirty="0">
                <a:solidFill>
                  <a:srgbClr val="395D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</a:t>
            </a:r>
            <a:r>
              <a:rPr lang="en-US" sz="1650" b="1" dirty="0">
                <a:solidFill>
                  <a:srgbClr val="455A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</a:t>
            </a:r>
            <a:r>
              <a:rPr lang="en-US" sz="1650" b="1" dirty="0">
                <a:solidFill>
                  <a:srgbClr val="515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r>
              <a:rPr lang="en-US" sz="1650" b="1" dirty="0">
                <a:solidFill>
                  <a:srgbClr val="5C5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</a:t>
            </a:r>
            <a:r>
              <a:rPr lang="en-US" sz="1650" b="1" dirty="0">
                <a:solidFill>
                  <a:srgbClr val="675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650" b="1" dirty="0">
                <a:solidFill>
                  <a:srgbClr val="7352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</a:t>
            </a:r>
            <a:r>
              <a:rPr lang="en-US" sz="1650" b="1" dirty="0">
                <a:solidFill>
                  <a:srgbClr val="7E5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</a:t>
            </a:r>
            <a:r>
              <a:rPr lang="en-US" sz="1650" b="1" dirty="0">
                <a:solidFill>
                  <a:srgbClr val="894F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须</a:t>
            </a:r>
            <a:r>
              <a:rPr lang="en-US" sz="1650" b="1" dirty="0">
                <a:solidFill>
                  <a:srgbClr val="944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</a:t>
            </a:r>
            <a:r>
              <a:rPr lang="en-US" sz="1650" b="1" dirty="0">
                <a:solidFill>
                  <a:srgbClr val="9F4D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</a:t>
            </a:r>
            <a:r>
              <a:rPr lang="en-US" sz="1650" b="1" dirty="0">
                <a:solidFill>
                  <a:srgbClr val="AA4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</a:t>
            </a:r>
            <a:r>
              <a:rPr lang="en-US" sz="1650" b="1" dirty="0">
                <a:solidFill>
                  <a:srgbClr val="B54B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</a:t>
            </a:r>
            <a:r>
              <a:rPr lang="en-US" sz="1650" b="1" dirty="0">
                <a:solidFill>
                  <a:srgbClr val="C04B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</a:t>
            </a:r>
            <a:r>
              <a:rPr lang="en-US" sz="1650" b="1" dirty="0">
                <a:solidFill>
                  <a:srgbClr val="C94B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</a:t>
            </a:r>
            <a:r>
              <a:rPr lang="en-US" sz="1650" b="1" dirty="0">
                <a:solidFill>
                  <a:srgbClr val="CD4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</a:t>
            </a:r>
            <a:r>
              <a:rPr lang="en-US" sz="1650" b="1" dirty="0">
                <a:solidFill>
                  <a:srgbClr val="D1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r>
              <a:rPr lang="en-US" sz="1650" b="1" dirty="0">
                <a:solidFill>
                  <a:srgbClr val="D551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</a:t>
            </a:r>
            <a:r>
              <a:rPr lang="en-US" sz="1650" b="1" dirty="0">
                <a:solidFill>
                  <a:srgbClr val="D95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</a:t>
            </a:r>
            <a:r>
              <a:rPr lang="en-US" sz="1650" b="1" dirty="0">
                <a:solidFill>
                  <a:srgbClr val="DD5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1122984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" y="1810512"/>
            <a:ext cx="10132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147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DRAFT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54504" y="2148840"/>
            <a:ext cx="146304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46528" y="1810512"/>
            <a:ext cx="2167875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01392" y="1810512"/>
            <a:ext cx="20581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147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ATTRIBUTION_RUNNING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60123" y="2148840"/>
            <a:ext cx="146304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52147" y="1810512"/>
            <a:ext cx="2764956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07011" y="1810512"/>
            <a:ext cx="26552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147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ATTRIBUTION_REVIEW_REQUIRED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62823" y="2148840"/>
            <a:ext cx="146304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54847" y="1810512"/>
            <a:ext cx="1869335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09711" y="1810512"/>
            <a:ext cx="17596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147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READY_TO_SUBMIT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369901" y="2148840"/>
            <a:ext cx="146304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C:\Users\minggu\code\dmall_supply_chain\.deck_build\pills\pill_2126_740_120_A736AE_1C51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925" y="1810512"/>
            <a:ext cx="1943970" cy="6766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561925" y="1810512"/>
            <a:ext cx="194397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SUBMITTED_LOCKED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5800" y="2761488"/>
            <a:ext cx="5626450" cy="2395728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69848" y="2962656"/>
            <a:ext cx="48583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关键约束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69848" y="3346704"/>
            <a:ext cx="480349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二次改量会将旧归因标记为 SUPERSEDED，原有审批立即失效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partial 报告不能直接批准，必须先人工补充归因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连续失败后仍需结构化人工归因，并照常走审核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最终提交为全有或全无，成功后运行与归因均为只读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623146" y="2761488"/>
            <a:ext cx="4882750" cy="2395728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007194" y="2962656"/>
            <a:ext cx="41146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四种审核动作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007194" y="33832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14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890858" y="3383280"/>
            <a:ext cx="22309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报告完整且证据与分配可接受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007194" y="38130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14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REQUEST_CHANGES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890858" y="3813048"/>
            <a:ext cx="22309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需要重新处理或人工补充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007194" y="42428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14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AMEND_AND_APPROVE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890858" y="4242816"/>
            <a:ext cx="22309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人工修订贡献与摘要后批准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007194" y="46725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14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MANUAL_AND_APPROVE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890858" y="4672584"/>
            <a:ext cx="22309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失败后录入人工归因</a:t>
            </a:r>
            <a:endParaRPr lang="en-US" sz="1050" dirty="0"/>
          </a:p>
        </p:txBody>
      </p:sp>
      <p:pic>
        <p:nvPicPr>
          <p:cNvPr id="31" name="Image 1" descr="C:\Users\minggu\code\dmall_supply_chain\.deck_build\pills\pill_11833_620_140_A736AE_1C51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58384"/>
            <a:ext cx="10820095" cy="56692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85800" y="5358384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没有“跳过归因直接提交”这个入口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</a:t>
            </a:r>
            <a:r>
              <a:rPr lang="en-US" sz="12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只认已批准状态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74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流程约束写在状态机里，而不是写在制度文档里。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900" b="1">
                <a:solidFill>
                  <a:srgbClr val="111014"/>
                </a:solidFill>
                <a:latin typeface="Microsoft YaHei"/>
                <a:ea typeface="Microsoft YaHei"/>
                <a:cs typeface="Microsoft YaHei"/>
              </a:rPr>
              <a:t>闭环学习：提交之后才是开始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8173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2E9E93"/>
                </a:solidFill>
                <a:latin typeface="Microsoft YaHei"/>
                <a:ea typeface="Microsoft YaHei"/>
                <a:cs typeface="Microsoft YaHei"/>
              </a:rPr>
              <a:t>实</a:t>
            </a:r>
            <a:r>
              <a:rPr sz="1650" b="1">
                <a:solidFill>
                  <a:srgbClr val="28949A"/>
                </a:solidFill>
                <a:latin typeface="Microsoft YaHei"/>
                <a:ea typeface="Microsoft YaHei"/>
                <a:cs typeface="Microsoft YaHei"/>
              </a:rPr>
              <a:t>际</a:t>
            </a:r>
            <a:r>
              <a:rPr sz="1650" b="1">
                <a:solidFill>
                  <a:srgbClr val="238AA1"/>
                </a:solidFill>
                <a:latin typeface="Microsoft YaHei"/>
                <a:ea typeface="Microsoft YaHei"/>
                <a:cs typeface="Microsoft YaHei"/>
              </a:rPr>
              <a:t>销</a:t>
            </a:r>
            <a:r>
              <a:rPr sz="1650" b="1">
                <a:solidFill>
                  <a:srgbClr val="1D81A9"/>
                </a:solidFill>
                <a:latin typeface="Microsoft YaHei"/>
                <a:ea typeface="Microsoft YaHei"/>
                <a:cs typeface="Microsoft YaHei"/>
              </a:rPr>
              <a:t>量</a:t>
            </a:r>
            <a:r>
              <a:rPr sz="1650" b="1">
                <a:solidFill>
                  <a:srgbClr val="1877B0"/>
                </a:solidFill>
                <a:latin typeface="Microsoft YaHei"/>
                <a:ea typeface="Microsoft YaHei"/>
                <a:cs typeface="Microsoft YaHei"/>
              </a:rPr>
              <a:t>每</a:t>
            </a:r>
            <a:r>
              <a:rPr sz="1650" b="1">
                <a:solidFill>
                  <a:srgbClr val="126DB7"/>
                </a:solidFill>
                <a:latin typeface="Microsoft YaHei"/>
                <a:ea typeface="Microsoft YaHei"/>
                <a:cs typeface="Microsoft YaHei"/>
              </a:rPr>
              <a:t>天</a:t>
            </a:r>
            <a:r>
              <a:rPr sz="1650" b="1">
                <a:solidFill>
                  <a:srgbClr val="1668B8"/>
                </a:solidFill>
                <a:latin typeface="Microsoft YaHei"/>
                <a:ea typeface="Microsoft YaHei"/>
                <a:cs typeface="Microsoft YaHei"/>
              </a:rPr>
              <a:t>回</a:t>
            </a:r>
            <a:r>
              <a:rPr sz="1650" b="1">
                <a:solidFill>
                  <a:srgbClr val="1F68B6"/>
                </a:solidFill>
                <a:latin typeface="Microsoft YaHei"/>
                <a:ea typeface="Microsoft YaHei"/>
                <a:cs typeface="Microsoft YaHei"/>
              </a:rPr>
              <a:t>流</a:t>
            </a:r>
            <a:r>
              <a:rPr sz="1650" b="1">
                <a:solidFill>
                  <a:srgbClr val="2967B3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650" b="1">
                <a:solidFill>
                  <a:srgbClr val="3266B1"/>
                </a:solidFill>
                <a:latin typeface="Microsoft YaHei"/>
                <a:ea typeface="Microsoft YaHei"/>
                <a:cs typeface="Microsoft YaHei"/>
              </a:rPr>
              <a:t>把</a:t>
            </a:r>
            <a:r>
              <a:rPr sz="1650" b="1">
                <a:solidFill>
                  <a:srgbClr val="3C65AE"/>
                </a:solidFill>
                <a:latin typeface="Microsoft YaHei"/>
                <a:ea typeface="Microsoft YaHei"/>
                <a:cs typeface="Microsoft YaHei"/>
              </a:rPr>
              <a:t>改</a:t>
            </a:r>
            <a:r>
              <a:rPr sz="1650" b="1">
                <a:solidFill>
                  <a:srgbClr val="4564AC"/>
                </a:solidFill>
                <a:latin typeface="Microsoft YaHei"/>
                <a:ea typeface="Microsoft YaHei"/>
                <a:cs typeface="Microsoft YaHei"/>
              </a:rPr>
              <a:t>得</a:t>
            </a:r>
            <a:r>
              <a:rPr sz="1650" b="1">
                <a:solidFill>
                  <a:srgbClr val="4F63A9"/>
                </a:solidFill>
                <a:latin typeface="Microsoft YaHei"/>
                <a:ea typeface="Microsoft YaHei"/>
                <a:cs typeface="Microsoft YaHei"/>
              </a:rPr>
              <a:t>对</a:t>
            </a:r>
            <a:r>
              <a:rPr sz="1650" b="1">
                <a:solidFill>
                  <a:srgbClr val="5862A7"/>
                </a:solidFill>
                <a:latin typeface="Microsoft YaHei"/>
                <a:ea typeface="Microsoft YaHei"/>
                <a:cs typeface="Microsoft YaHei"/>
              </a:rPr>
              <a:t>不</a:t>
            </a:r>
            <a:r>
              <a:rPr sz="1650" b="1">
                <a:solidFill>
                  <a:srgbClr val="6261A4"/>
                </a:solidFill>
                <a:latin typeface="Microsoft YaHei"/>
                <a:ea typeface="Microsoft YaHei"/>
                <a:cs typeface="Microsoft YaHei"/>
              </a:rPr>
              <a:t>对</a:t>
            </a:r>
            <a:r>
              <a:rPr sz="1650" b="1">
                <a:solidFill>
                  <a:srgbClr val="6B60A2"/>
                </a:solidFill>
                <a:latin typeface="Microsoft YaHei"/>
                <a:ea typeface="Microsoft YaHei"/>
                <a:cs typeface="Microsoft YaHei"/>
              </a:rPr>
              <a:t>从</a:t>
            </a:r>
            <a:r>
              <a:rPr sz="1650" b="1">
                <a:solidFill>
                  <a:srgbClr val="755F9F"/>
                </a:solidFill>
                <a:latin typeface="Microsoft YaHei"/>
                <a:ea typeface="Microsoft YaHei"/>
                <a:cs typeface="Microsoft YaHei"/>
              </a:rPr>
              <a:t>主</a:t>
            </a:r>
            <a:r>
              <a:rPr sz="1650" b="1">
                <a:solidFill>
                  <a:srgbClr val="7E5E9C"/>
                </a:solidFill>
                <a:latin typeface="Microsoft YaHei"/>
                <a:ea typeface="Microsoft YaHei"/>
                <a:cs typeface="Microsoft YaHei"/>
              </a:rPr>
              <a:t>观</a:t>
            </a:r>
            <a:r>
              <a:rPr sz="1650" b="1">
                <a:solidFill>
                  <a:srgbClr val="885D9A"/>
                </a:solidFill>
                <a:latin typeface="Microsoft YaHei"/>
                <a:ea typeface="Microsoft YaHei"/>
                <a:cs typeface="Microsoft YaHei"/>
              </a:rPr>
              <a:t>判</a:t>
            </a:r>
            <a:r>
              <a:rPr sz="1650" b="1">
                <a:solidFill>
                  <a:srgbClr val="915C97"/>
                </a:solidFill>
                <a:latin typeface="Microsoft YaHei"/>
                <a:ea typeface="Microsoft YaHei"/>
                <a:cs typeface="Microsoft YaHei"/>
              </a:rPr>
              <a:t>断</a:t>
            </a:r>
            <a:r>
              <a:rPr sz="1650" b="1">
                <a:solidFill>
                  <a:srgbClr val="9B5B95"/>
                </a:solidFill>
                <a:latin typeface="Microsoft YaHei"/>
                <a:ea typeface="Microsoft YaHei"/>
                <a:cs typeface="Microsoft YaHei"/>
              </a:rPr>
              <a:t>变</a:t>
            </a:r>
            <a:r>
              <a:rPr sz="1650" b="1">
                <a:solidFill>
                  <a:srgbClr val="A45B92"/>
                </a:solidFill>
                <a:latin typeface="Microsoft YaHei"/>
                <a:ea typeface="Microsoft YaHei"/>
                <a:cs typeface="Microsoft YaHei"/>
              </a:rPr>
              <a:t>成</a:t>
            </a:r>
            <a:r>
              <a:rPr sz="1650" b="1">
                <a:solidFill>
                  <a:srgbClr val="AE5A90"/>
                </a:solidFill>
                <a:latin typeface="Microsoft YaHei"/>
                <a:ea typeface="Microsoft YaHei"/>
                <a:cs typeface="Microsoft YaHei"/>
              </a:rPr>
              <a:t>可</a:t>
            </a:r>
            <a:r>
              <a:rPr sz="1650" b="1">
                <a:solidFill>
                  <a:srgbClr val="B7598D"/>
                </a:solidFill>
                <a:latin typeface="Microsoft YaHei"/>
                <a:ea typeface="Microsoft YaHei"/>
                <a:cs typeface="Microsoft YaHei"/>
              </a:rPr>
              <a:t>计</a:t>
            </a:r>
            <a:r>
              <a:rPr sz="1650" b="1">
                <a:solidFill>
                  <a:srgbClr val="C1588B"/>
                </a:solidFill>
                <a:latin typeface="Microsoft YaHei"/>
                <a:ea typeface="Microsoft YaHei"/>
                <a:cs typeface="Microsoft YaHei"/>
              </a:rPr>
              <a:t>算</a:t>
            </a:r>
            <a:r>
              <a:rPr sz="1650" b="1">
                <a:solidFill>
                  <a:srgbClr val="CA578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650" b="1">
                <a:solidFill>
                  <a:srgbClr val="D45686"/>
                </a:solidFill>
                <a:latin typeface="Microsoft YaHei"/>
                <a:ea typeface="Microsoft YaHei"/>
                <a:cs typeface="Microsoft YaHei"/>
              </a:rPr>
              <a:t>结</a:t>
            </a:r>
            <a:r>
              <a:rPr sz="1650" b="1">
                <a:solidFill>
                  <a:srgbClr val="DD5583"/>
                </a:solidFill>
                <a:latin typeface="Microsoft YaHei"/>
                <a:ea typeface="Microsoft YaHei"/>
                <a:cs typeface="Microsoft YaHei"/>
              </a:rPr>
              <a:t>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1947672" cy="179222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8468" y="1911095"/>
            <a:ext cx="402336" cy="402336"/>
          </a:xfrm>
          <a:prstGeom prst="ellipse">
            <a:avLst/>
          </a:prstGeom>
          <a:solidFill>
            <a:srgbClr val="A736AE"/>
          </a:solidFill>
          <a:ln w="12700">
            <a:solidFill>
              <a:srgbClr val="A73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58468" y="191109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404872"/>
            <a:ext cx="165506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11014"/>
                </a:solidFill>
                <a:latin typeface="Microsoft YaHei"/>
                <a:ea typeface="Microsoft YaHei"/>
                <a:cs typeface="Microsoft YaHei"/>
              </a:rPr>
              <a:t>提交即建账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843784"/>
            <a:ext cx="165506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改量行与未改量行同时写入结果台账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9191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7792" y="1737360"/>
            <a:ext cx="1947672" cy="179222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0460" y="1911095"/>
            <a:ext cx="402336" cy="402336"/>
          </a:xfrm>
          <a:prstGeom prst="ellipse">
            <a:avLst/>
          </a:prstGeom>
          <a:solidFill>
            <a:srgbClr val="843DAB"/>
          </a:solidFill>
          <a:ln w="12700">
            <a:solidFill>
              <a:srgbClr val="843D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0460" y="191109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404872"/>
            <a:ext cx="165506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11014"/>
                </a:solidFill>
                <a:latin typeface="Microsoft YaHei"/>
                <a:ea typeface="Microsoft YaHei"/>
                <a:cs typeface="Microsoft YaHei"/>
              </a:rPr>
              <a:t>确定判定窗口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843784"/>
            <a:ext cx="165506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按当时冻结的补货周期决定评估天数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01184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1737360"/>
            <a:ext cx="1947672" cy="179222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93307" y="1911095"/>
            <a:ext cx="402336" cy="402336"/>
          </a:xfrm>
          <a:prstGeom prst="ellipse">
            <a:avLst/>
          </a:prstGeom>
          <a:solidFill>
            <a:srgbClr val="6244A7"/>
          </a:solidFill>
          <a:ln w="12700">
            <a:solidFill>
              <a:srgbClr val="624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3307" y="191109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404872"/>
            <a:ext cx="165506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11014"/>
                </a:solidFill>
                <a:latin typeface="Microsoft YaHei"/>
                <a:ea typeface="Microsoft YaHei"/>
                <a:cs typeface="Microsoft YaHei"/>
              </a:rPr>
              <a:t>日销量回流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843784"/>
            <a:ext cx="165506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客户按日回传实际销量与缺货标记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14031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42631" y="1737360"/>
            <a:ext cx="1947672" cy="179222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5300" y="1911095"/>
            <a:ext cx="402336" cy="402336"/>
          </a:xfrm>
          <a:prstGeom prst="ellipse">
            <a:avLst/>
          </a:prstGeom>
          <a:solidFill>
            <a:srgbClr val="3F4AA4"/>
          </a:solidFill>
          <a:ln w="12700">
            <a:solidFill>
              <a:srgbClr val="3F4A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5300" y="191109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8936" y="2404872"/>
            <a:ext cx="165506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11014"/>
                </a:solidFill>
                <a:latin typeface="Microsoft YaHei"/>
                <a:ea typeface="Microsoft YaHei"/>
                <a:cs typeface="Microsoft YaHei"/>
              </a:rPr>
              <a:t>判定谁更准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6" y="2843784"/>
            <a:ext cx="165506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引擎建议与人工终值各自与事后最优量比较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36024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64624" y="1737360"/>
            <a:ext cx="1947672" cy="179222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7292" y="1911095"/>
            <a:ext cx="402336" cy="402336"/>
          </a:xfrm>
          <a:prstGeom prst="ellipse">
            <a:avLst/>
          </a:prstGeom>
          <a:solidFill>
            <a:srgbClr val="1C51A0"/>
          </a:solidFill>
          <a:ln w="12700">
            <a:solidFill>
              <a:srgbClr val="1C5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7292" y="191109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2404872"/>
            <a:ext cx="165506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11014"/>
                </a:solidFill>
                <a:latin typeface="Microsoft YaHei"/>
                <a:ea typeface="Microsoft YaHei"/>
                <a:cs typeface="Microsoft YaHei"/>
              </a:rPr>
              <a:t>更新知识后验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2843784"/>
            <a:ext cx="165506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按 Wilson 下界折算权重，达标才允许生效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712463"/>
            <a:ext cx="10817352" cy="1298448"/>
          </a:xfrm>
          <a:prstGeom prst="rect">
            <a:avLst/>
          </a:prstGeom>
          <a:solidFill>
            <a:srgbClr val="F0EDF6"/>
          </a:solidFill>
          <a:ln w="12700">
            <a:solidFill>
              <a:srgbClr val="F0E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133087"/>
            <a:ext cx="1008583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50" b="1">
                <a:solidFill>
                  <a:srgbClr val="111014"/>
                </a:solidFill>
                <a:latin typeface="Microsoft YaHei"/>
                <a:ea typeface="Microsoft YaHei"/>
                <a:cs typeface="Microsoft YaHei"/>
              </a:rPr>
              <a:t>事后最优量  =  判定窗口内的真实需求（含缺货损失）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572000"/>
            <a:ext cx="100858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谁离它更近谁赢这一条；差距小于半个箱规记为平局，不算任何一方的成绩。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175504"/>
            <a:ext cx="5257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8408" y="5468112"/>
            <a:ext cx="146304" cy="146304"/>
          </a:xfrm>
          <a:prstGeom prst="ellipse">
            <a:avLst/>
          </a:prstGeom>
          <a:solidFill>
            <a:srgbClr val="A736AE"/>
          </a:solidFill>
          <a:ln w="12700">
            <a:solidFill>
              <a:srgbClr val="A73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52728" y="5175504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接受与改量的行都建账，系统才既学得到改错了，也学得到不该不改。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54496" y="5175504"/>
            <a:ext cx="5257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47104" y="5468112"/>
            <a:ext cx="146304" cy="146304"/>
          </a:xfrm>
          <a:prstGeom prst="ellipse">
            <a:avLst/>
          </a:prstGeom>
          <a:solidFill>
            <a:srgbClr val="1C51A0"/>
          </a:solidFill>
          <a:ln w="12700">
            <a:solidFill>
              <a:srgbClr val="1C5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21424" y="5175504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判定口径按当时的快照固定，今天调参数不会改写过去的成绩单。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3093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76747C"/>
                </a:solidFill>
                <a:latin typeface="Microsoft YaHei"/>
                <a:ea typeface="Microsoft YaHei"/>
                <a:cs typeface="Microsoft YaHei"/>
              </a:rPr>
              <a:t>没有实际销量回流，归因只是记录；有了它，归因才开始产生准确率。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900" b="1">
                <a:solidFill>
                  <a:srgbClr val="111014"/>
                </a:solidFill>
                <a:latin typeface="Microsoft YaHei"/>
                <a:ea typeface="Microsoft YaHei"/>
                <a:cs typeface="Microsoft YaHei"/>
              </a:rPr>
              <a:t>知识沉淀与准确率看板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8173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2E9E93"/>
                </a:solidFill>
                <a:latin typeface="Microsoft YaHei"/>
                <a:ea typeface="Microsoft YaHei"/>
                <a:cs typeface="Microsoft YaHei"/>
              </a:rPr>
              <a:t>门</a:t>
            </a:r>
            <a:r>
              <a:rPr sz="1650" b="1">
                <a:solidFill>
                  <a:srgbClr val="299599"/>
                </a:solidFill>
                <a:latin typeface="Microsoft YaHei"/>
                <a:ea typeface="Microsoft YaHei"/>
                <a:cs typeface="Microsoft YaHei"/>
              </a:rPr>
              <a:t>店</a:t>
            </a:r>
            <a:r>
              <a:rPr sz="1650" b="1">
                <a:solidFill>
                  <a:srgbClr val="248DA0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650" b="1">
                <a:solidFill>
                  <a:srgbClr val="1F84A6"/>
                </a:solidFill>
                <a:latin typeface="Microsoft YaHei"/>
                <a:ea typeface="Microsoft YaHei"/>
                <a:cs typeface="Microsoft YaHei"/>
              </a:rPr>
              <a:t>单</a:t>
            </a:r>
            <a:r>
              <a:rPr sz="1650" b="1">
                <a:solidFill>
                  <a:srgbClr val="1B7CAC"/>
                </a:solidFill>
                <a:latin typeface="Microsoft YaHei"/>
                <a:ea typeface="Microsoft YaHei"/>
                <a:cs typeface="Microsoft YaHei"/>
              </a:rPr>
              <a:t>品</a:t>
            </a:r>
            <a:r>
              <a:rPr sz="1650" b="1">
                <a:solidFill>
                  <a:srgbClr val="1673B2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650" b="1">
                <a:solidFill>
                  <a:srgbClr val="116BB9"/>
                </a:solidFill>
                <a:latin typeface="Microsoft YaHei"/>
                <a:ea typeface="Microsoft YaHei"/>
                <a:cs typeface="Microsoft YaHei"/>
              </a:rPr>
              <a:t>特</a:t>
            </a:r>
            <a:r>
              <a:rPr sz="1650" b="1">
                <a:solidFill>
                  <a:srgbClr val="1768B8"/>
                </a:solidFill>
                <a:latin typeface="Microsoft YaHei"/>
                <a:ea typeface="Microsoft YaHei"/>
                <a:cs typeface="Microsoft YaHei"/>
              </a:rPr>
              <a:t>性</a:t>
            </a:r>
            <a:r>
              <a:rPr sz="1650" b="1">
                <a:solidFill>
                  <a:srgbClr val="1F68B6"/>
                </a:solidFill>
                <a:latin typeface="Microsoft YaHei"/>
                <a:ea typeface="Microsoft YaHei"/>
                <a:cs typeface="Microsoft YaHei"/>
              </a:rPr>
              <a:t>沉</a:t>
            </a:r>
            <a:r>
              <a:rPr sz="1650" b="1">
                <a:solidFill>
                  <a:srgbClr val="2767B4"/>
                </a:solidFill>
                <a:latin typeface="Microsoft YaHei"/>
                <a:ea typeface="Microsoft YaHei"/>
                <a:cs typeface="Microsoft YaHei"/>
              </a:rPr>
              <a:t>淀</a:t>
            </a:r>
            <a:r>
              <a:rPr sz="1650" b="1">
                <a:solidFill>
                  <a:srgbClr val="2F66B2"/>
                </a:solidFill>
                <a:latin typeface="Microsoft YaHei"/>
                <a:ea typeface="Microsoft YaHei"/>
                <a:cs typeface="Microsoft YaHei"/>
              </a:rPr>
              <a:t>成</a:t>
            </a:r>
            <a:r>
              <a:rPr sz="1650" b="1">
                <a:solidFill>
                  <a:srgbClr val="3865AF"/>
                </a:solidFill>
                <a:latin typeface="Microsoft YaHei"/>
                <a:ea typeface="Microsoft YaHei"/>
                <a:cs typeface="Microsoft YaHei"/>
              </a:rPr>
              <a:t>知</a:t>
            </a:r>
            <a:r>
              <a:rPr sz="1650" b="1">
                <a:solidFill>
                  <a:srgbClr val="4064AD"/>
                </a:solidFill>
                <a:latin typeface="Microsoft YaHei"/>
                <a:ea typeface="Microsoft YaHei"/>
                <a:cs typeface="Microsoft YaHei"/>
              </a:rPr>
              <a:t>识</a:t>
            </a:r>
            <a:r>
              <a:rPr sz="1650" b="1">
                <a:solidFill>
                  <a:srgbClr val="4864AB"/>
                </a:solidFill>
                <a:latin typeface="Microsoft YaHei"/>
                <a:ea typeface="Microsoft YaHei"/>
                <a:cs typeface="Microsoft YaHei"/>
              </a:rPr>
              <a:t>条</a:t>
            </a:r>
            <a:r>
              <a:rPr sz="1650" b="1">
                <a:solidFill>
                  <a:srgbClr val="5063A9"/>
                </a:solidFill>
                <a:latin typeface="Microsoft YaHei"/>
                <a:ea typeface="Microsoft YaHei"/>
                <a:cs typeface="Microsoft YaHei"/>
              </a:rPr>
              <a:t>目</a:t>
            </a:r>
            <a:r>
              <a:rPr sz="1650" b="1">
                <a:solidFill>
                  <a:srgbClr val="5962A6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650" b="1">
                <a:solidFill>
                  <a:srgbClr val="6161A4"/>
                </a:solidFill>
                <a:latin typeface="Microsoft YaHei"/>
                <a:ea typeface="Microsoft YaHei"/>
                <a:cs typeface="Microsoft YaHei"/>
              </a:rPr>
              <a:t>权</a:t>
            </a:r>
            <a:r>
              <a:rPr sz="1650" b="1">
                <a:solidFill>
                  <a:srgbClr val="6960A2"/>
                </a:solidFill>
                <a:latin typeface="Microsoft YaHei"/>
                <a:ea typeface="Microsoft YaHei"/>
                <a:cs typeface="Microsoft YaHei"/>
              </a:rPr>
              <a:t>重</a:t>
            </a:r>
            <a:r>
              <a:rPr sz="1650" b="1">
                <a:solidFill>
                  <a:srgbClr val="725FA0"/>
                </a:solidFill>
                <a:latin typeface="Microsoft YaHei"/>
                <a:ea typeface="Microsoft YaHei"/>
                <a:cs typeface="Microsoft YaHei"/>
              </a:rPr>
              <a:t>由</a:t>
            </a:r>
            <a:r>
              <a:rPr sz="1650" b="1">
                <a:solidFill>
                  <a:srgbClr val="7A5F9E"/>
                </a:solidFill>
                <a:latin typeface="Microsoft YaHei"/>
                <a:ea typeface="Microsoft YaHei"/>
                <a:cs typeface="Microsoft YaHei"/>
              </a:rPr>
              <a:t>实</a:t>
            </a:r>
            <a:r>
              <a:rPr sz="1650" b="1">
                <a:solidFill>
                  <a:srgbClr val="825E9B"/>
                </a:solidFill>
                <a:latin typeface="Microsoft YaHei"/>
                <a:ea typeface="Microsoft YaHei"/>
                <a:cs typeface="Microsoft YaHei"/>
              </a:rPr>
              <a:t>测</a:t>
            </a:r>
            <a:r>
              <a:rPr sz="1650" b="1">
                <a:solidFill>
                  <a:srgbClr val="8A5D99"/>
                </a:solidFill>
                <a:latin typeface="Microsoft YaHei"/>
                <a:ea typeface="Microsoft YaHei"/>
                <a:cs typeface="Microsoft YaHei"/>
              </a:rPr>
              <a:t>结</a:t>
            </a:r>
            <a:r>
              <a:rPr sz="1650" b="1">
                <a:solidFill>
                  <a:srgbClr val="935C97"/>
                </a:solidFill>
                <a:latin typeface="Microsoft YaHei"/>
                <a:ea typeface="Microsoft YaHei"/>
                <a:cs typeface="Microsoft YaHei"/>
              </a:rPr>
              <a:t>果</a:t>
            </a:r>
            <a:r>
              <a:rPr sz="1650" b="1">
                <a:solidFill>
                  <a:srgbClr val="9B5B95"/>
                </a:solidFill>
                <a:latin typeface="Microsoft YaHei"/>
                <a:ea typeface="Microsoft YaHei"/>
                <a:cs typeface="Microsoft YaHei"/>
              </a:rPr>
              <a:t>挣</a:t>
            </a:r>
            <a:r>
              <a:rPr sz="1650" b="1">
                <a:solidFill>
                  <a:srgbClr val="A35B93"/>
                </a:solidFill>
                <a:latin typeface="Microsoft YaHei"/>
                <a:ea typeface="Microsoft YaHei"/>
                <a:cs typeface="Microsoft YaHei"/>
              </a:rPr>
              <a:t>得</a:t>
            </a:r>
            <a:r>
              <a:rPr sz="1650" b="1">
                <a:solidFill>
                  <a:srgbClr val="AB5A90"/>
                </a:solidFill>
                <a:latin typeface="Microsoft YaHei"/>
                <a:ea typeface="Microsoft YaHei"/>
                <a:cs typeface="Microsoft YaHei"/>
              </a:rPr>
              <a:t>而</a:t>
            </a:r>
            <a:r>
              <a:rPr sz="1650" b="1">
                <a:solidFill>
                  <a:srgbClr val="B4598E"/>
                </a:solidFill>
                <a:latin typeface="Microsoft YaHei"/>
                <a:ea typeface="Microsoft YaHei"/>
                <a:cs typeface="Microsoft YaHei"/>
              </a:rPr>
              <a:t>不</a:t>
            </a:r>
            <a:r>
              <a:rPr sz="1650" b="1">
                <a:solidFill>
                  <a:srgbClr val="BC588C"/>
                </a:solidFill>
                <a:latin typeface="Microsoft YaHei"/>
                <a:ea typeface="Microsoft YaHei"/>
                <a:cs typeface="Microsoft YaHei"/>
              </a:rPr>
              <a:t>是</a:t>
            </a:r>
            <a:r>
              <a:rPr sz="1650" b="1">
                <a:solidFill>
                  <a:srgbClr val="C4578A"/>
                </a:solidFill>
                <a:latin typeface="Microsoft YaHei"/>
                <a:ea typeface="Microsoft YaHei"/>
                <a:cs typeface="Microsoft YaHei"/>
              </a:rPr>
              <a:t>由</a:t>
            </a:r>
            <a:r>
              <a:rPr sz="1650" b="1">
                <a:solidFill>
                  <a:srgbClr val="CC5787"/>
                </a:solidFill>
                <a:latin typeface="Microsoft YaHei"/>
                <a:ea typeface="Microsoft YaHei"/>
                <a:cs typeface="Microsoft YaHei"/>
              </a:rPr>
              <a:t>人</a:t>
            </a:r>
            <a:r>
              <a:rPr sz="1650" b="1">
                <a:solidFill>
                  <a:srgbClr val="D55685"/>
                </a:solidFill>
                <a:latin typeface="Microsoft YaHei"/>
                <a:ea typeface="Microsoft YaHei"/>
                <a:cs typeface="Microsoft YaHei"/>
              </a:rPr>
              <a:t>声</a:t>
            </a:r>
            <a:r>
              <a:rPr sz="1650" b="1">
                <a:solidFill>
                  <a:srgbClr val="DD5583"/>
                </a:solidFill>
                <a:latin typeface="Microsoft YaHei"/>
                <a:ea typeface="Microsoft YaHei"/>
                <a:cs typeface="Microsoft YaHei"/>
              </a:rPr>
              <a:t>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55648"/>
            <a:ext cx="5623560" cy="3310128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975104"/>
            <a:ext cx="48554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014"/>
                </a:solidFill>
                <a:latin typeface="Microsoft YaHei"/>
                <a:ea typeface="Microsoft YaHei"/>
                <a:cs typeface="Microsoft YaHei"/>
              </a:rPr>
              <a:t>知识条目的生命周期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9848" y="2542032"/>
            <a:ext cx="82296" cy="402336"/>
          </a:xfrm>
          <a:prstGeom prst="rect">
            <a:avLst/>
          </a:prstGeom>
          <a:solidFill>
            <a:srgbClr val="A736AE"/>
          </a:solidFill>
          <a:ln w="12700">
            <a:solidFill>
              <a:srgbClr val="A73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6736" y="2450591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A736AE"/>
                </a:solidFill>
                <a:latin typeface="Consolas"/>
                <a:ea typeface="Consolas"/>
                <a:cs typeface="Consolas"/>
              </a:rPr>
              <a:t>CANDIDATE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2706624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11014"/>
                </a:solidFill>
                <a:latin typeface="Microsoft YaHei"/>
                <a:ea typeface="Microsoft YaHei"/>
                <a:cs typeface="Microsoft YaHei"/>
              </a:rPr>
              <a:t>候选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450591"/>
            <a:ext cx="27980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审核时发布，权重为零，先不参与算量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9848" y="3182112"/>
            <a:ext cx="82296" cy="402336"/>
          </a:xfrm>
          <a:prstGeom prst="rect">
            <a:avLst/>
          </a:prstGeom>
          <a:solidFill>
            <a:srgbClr val="843DAB"/>
          </a:solidFill>
          <a:ln w="12700">
            <a:solidFill>
              <a:srgbClr val="843D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6736" y="3090672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43DAB"/>
                </a:solidFill>
                <a:latin typeface="Consolas"/>
                <a:ea typeface="Consolas"/>
                <a:cs typeface="Consolas"/>
              </a:rPr>
              <a:t>SHADOW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3346704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11014"/>
                </a:solidFill>
                <a:latin typeface="Microsoft YaHei"/>
                <a:ea typeface="Microsoft YaHei"/>
                <a:cs typeface="Microsoft YaHei"/>
              </a:rPr>
              <a:t>影子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090672"/>
            <a:ext cx="27980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累计五条以上判定后开始影子跟踪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" y="3822191"/>
            <a:ext cx="82296" cy="402336"/>
          </a:xfrm>
          <a:prstGeom prst="rect">
            <a:avLst/>
          </a:prstGeom>
          <a:solidFill>
            <a:srgbClr val="6244A7"/>
          </a:solidFill>
          <a:ln w="12700">
            <a:solidFill>
              <a:srgbClr val="624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6736" y="3730752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6244A7"/>
                </a:solidFill>
                <a:latin typeface="Consolas"/>
                <a:ea typeface="Consolas"/>
                <a:cs typeface="Consolas"/>
              </a:rPr>
              <a:t>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986784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11014"/>
                </a:solidFill>
                <a:latin typeface="Microsoft YaHei"/>
                <a:ea typeface="Microsoft YaHei"/>
                <a:cs typeface="Microsoft YaHei"/>
              </a:rPr>
              <a:t>生效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3730752"/>
            <a:ext cx="27980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Wilson 下界越过 0.5，按权重进入引擎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9848" y="4462271"/>
            <a:ext cx="82296" cy="402336"/>
          </a:xfrm>
          <a:prstGeom prst="rect">
            <a:avLst/>
          </a:prstGeom>
          <a:solidFill>
            <a:srgbClr val="3F4AA4"/>
          </a:solidFill>
          <a:ln w="12700">
            <a:solidFill>
              <a:srgbClr val="3F4A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6736" y="4370831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F4AA4"/>
                </a:solidFill>
                <a:latin typeface="Consolas"/>
                <a:ea typeface="Consolas"/>
                <a:cs typeface="Consolas"/>
              </a:rPr>
              <a:t>RETIRED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4626864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11014"/>
                </a:solidFill>
                <a:latin typeface="Microsoft YaHei"/>
                <a:ea typeface="Microsoft YaHei"/>
                <a:cs typeface="Microsoft YaHei"/>
              </a:rPr>
              <a:t>退役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4370831"/>
            <a:ext cx="27980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证据反转则权重归零，永久退出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0256" y="1755648"/>
            <a:ext cx="4882896" cy="3310128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04304" y="1975104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014"/>
                </a:solidFill>
                <a:latin typeface="Microsoft YaHei"/>
                <a:ea typeface="Microsoft YaHei"/>
                <a:cs typeface="Microsoft YaHei"/>
              </a:rPr>
              <a:t>准确率看板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304" y="2450591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5446A6"/>
                </a:solidFill>
                <a:latin typeface="Microsoft YaHei"/>
                <a:ea typeface="Microsoft YaHei"/>
                <a:cs typeface="Microsoft YaHei"/>
              </a:rPr>
              <a:t>引擎与人工的 MAE / MAPE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2450591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同一批判定下并排比较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090672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5446A6"/>
                </a:solidFill>
                <a:latin typeface="Microsoft YaHei"/>
                <a:ea typeface="Microsoft YaHei"/>
                <a:cs typeface="Microsoft YaHei"/>
              </a:rPr>
              <a:t>人工改量胜率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3090672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赢 / 输 / 平，按门店品类下钻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4304" y="3730752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5446A6"/>
                </a:solidFill>
                <a:latin typeface="Microsoft YaHei"/>
                <a:ea typeface="Microsoft YaHei"/>
                <a:cs typeface="Microsoft YaHei"/>
              </a:rPr>
              <a:t>缺货件数与积压件数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984" y="3730752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把准确率代价拆成两种损失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4304" y="4370831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5446A6"/>
                </a:solidFill>
                <a:latin typeface="Microsoft YaHei"/>
                <a:ea typeface="Microsoft YaHei"/>
                <a:cs typeface="Microsoft YaHei"/>
              </a:rPr>
              <a:t>按原因码归集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4370831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3B3A40"/>
                </a:solidFill>
                <a:latin typeface="Microsoft YaHei"/>
                <a:ea typeface="Microsoft YaHei"/>
                <a:cs typeface="Microsoft YaHei"/>
              </a:rPr>
              <a:t>哪类原因真正带来准确率提升</a:t>
            </a:r>
          </a:p>
        </p:txBody>
      </p:sp>
      <p:pic>
        <p:nvPicPr>
          <p:cNvPr id="32" name="Picture 31" descr="pill_2603_136_31_A736AE_1C51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248656"/>
            <a:ext cx="10817352" cy="5669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5800" y="5248656"/>
            <a:ext cx="108173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新知识发布即静默：先记录，再验证，最后才允许影响补货数量。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093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76747C"/>
                </a:solidFill>
                <a:latin typeface="Microsoft YaHei"/>
                <a:ea typeface="Microsoft YaHei"/>
                <a:cs typeface="Microsoft YaHei"/>
              </a:rPr>
              <a:t>门店与单品的差异，最终沉淀成能持续提高准确率的知识。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架构与运行时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</a:t>
            </a:r>
            <a:r>
              <a:rPr lang="en-US" sz="1650" b="1" dirty="0">
                <a:solidFill>
                  <a:srgbClr val="238D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</a:t>
            </a:r>
            <a:r>
              <a:rPr lang="en-US" sz="1650" b="1" dirty="0">
                <a:solidFill>
                  <a:srgbClr val="197C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</a:t>
            </a:r>
            <a:r>
              <a:rPr lang="en-US" sz="1650" b="1" dirty="0">
                <a:solidFill>
                  <a:srgbClr val="136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</a:t>
            </a:r>
            <a:r>
              <a:rPr lang="en-US" sz="1650" b="1" dirty="0">
                <a:solidFill>
                  <a:srgbClr val="246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署</a:t>
            </a:r>
            <a:r>
              <a:rPr lang="en-US" sz="1650" b="1" dirty="0">
                <a:solidFill>
                  <a:srgbClr val="3A5D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650" b="1" dirty="0">
                <a:solidFill>
                  <a:srgbClr val="4F58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</a:t>
            </a:r>
            <a:r>
              <a:rPr lang="en-US" sz="1650" b="1" dirty="0">
                <a:solidFill>
                  <a:srgbClr val="6355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</a:t>
            </a:r>
            <a:r>
              <a:rPr lang="en-US" sz="1650" b="1" dirty="0">
                <a:solidFill>
                  <a:srgbClr val="775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</a:t>
            </a:r>
            <a:r>
              <a:rPr lang="en-US" sz="1650" b="1" dirty="0">
                <a:solidFill>
                  <a:srgbClr val="8B4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</a:t>
            </a:r>
            <a:r>
              <a:rPr lang="en-US" sz="1650" b="1" dirty="0">
                <a:solidFill>
                  <a:srgbClr val="9F4D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</a:t>
            </a:r>
            <a:r>
              <a:rPr lang="en-US" sz="1650" b="1" dirty="0">
                <a:solidFill>
                  <a:srgbClr val="B34C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</a:t>
            </a:r>
            <a:r>
              <a:rPr lang="en-US" sz="1650" b="1" dirty="0">
                <a:solidFill>
                  <a:srgbClr val="C54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</a:t>
            </a:r>
            <a:r>
              <a:rPr lang="en-US" sz="1650" b="1" dirty="0">
                <a:solidFill>
                  <a:srgbClr val="CE4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</a:t>
            </a:r>
            <a:r>
              <a:rPr lang="en-US" sz="1650" b="1" dirty="0">
                <a:solidFill>
                  <a:srgbClr val="D65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</a:t>
            </a:r>
            <a:r>
              <a:rPr lang="en-US" sz="1650" b="1" dirty="0">
                <a:solidFill>
                  <a:srgbClr val="DD5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6492057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23544" y="2084832"/>
            <a:ext cx="82296" cy="402336"/>
          </a:xfrm>
          <a:prstGeom prst="roundRect">
            <a:avLst>
              <a:gd name="adj" fmla="val 50000"/>
            </a:avLst>
          </a:prstGeom>
          <a:solidFill>
            <a:srgbClr val="A736AE"/>
          </a:solidFill>
          <a:ln w="12700">
            <a:solidFill>
              <a:srgbClr val="A73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1288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337560" y="1874520"/>
            <a:ext cx="36208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+ Vite 界面，Container Apps 托管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825496"/>
            <a:ext cx="6492057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23544" y="3035808"/>
            <a:ext cx="82296" cy="402336"/>
          </a:xfrm>
          <a:prstGeom prst="roundRect">
            <a:avLst>
              <a:gd name="adj" fmla="val 50000"/>
            </a:avLst>
          </a:prstGeom>
          <a:solidFill>
            <a:srgbClr val="793FA9"/>
          </a:solidFill>
          <a:ln w="12700">
            <a:solidFill>
              <a:srgbClr val="793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61288" y="282549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37560" y="2825496"/>
            <a:ext cx="36208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提供补货、归因、审核与提交接口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776472"/>
            <a:ext cx="6492057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23544" y="3986784"/>
            <a:ext cx="82296" cy="402336"/>
          </a:xfrm>
          <a:prstGeom prst="roundRect">
            <a:avLst>
              <a:gd name="adj" fmla="val 50000"/>
            </a:avLst>
          </a:prstGeom>
          <a:solidFill>
            <a:srgbClr val="4A48A5"/>
          </a:solidFill>
          <a:ln w="12700">
            <a:solidFill>
              <a:srgbClr val="4A48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61288" y="377647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 Worker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37560" y="3776472"/>
            <a:ext cx="36208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进程内租约调度，多副本并发处理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727448"/>
            <a:ext cx="6492057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3544" y="4937760"/>
            <a:ext cx="82296" cy="402336"/>
          </a:xfrm>
          <a:prstGeom prst="roundRect">
            <a:avLst>
              <a:gd name="adj" fmla="val 50000"/>
            </a:avLst>
          </a:prstGeom>
          <a:solidFill>
            <a:srgbClr val="1C51A0"/>
          </a:solidFill>
          <a:ln w="12700">
            <a:solidFill>
              <a:srgbClr val="1C5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61288" y="472744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37560" y="4727448"/>
            <a:ext cx="36208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Database for PostgreSQL，日销量、结果台账与知识库同库存储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88753" y="1874520"/>
            <a:ext cx="4017142" cy="3675888"/>
          </a:xfrm>
          <a:prstGeom prst="roundRect">
            <a:avLst>
              <a:gd name="adj" fmla="val 3483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54513" y="2103120"/>
            <a:ext cx="3285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244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运行时特性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854513" y="2523744"/>
            <a:ext cx="326733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6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2 个后端副本 × 4 个 Worker </a:t>
            </a:r>
            <a:r>
              <a:rPr lang="zh-CN" alt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</a:t>
            </a:r>
            <a:endParaRPr lang="en-US" sz="1100" dirty="0"/>
          </a:p>
          <a:p>
            <a:pPr marL="342900" indent="-342900">
              <a:lnSpc>
                <a:spcPct val="126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托管身份连接 Foundry 与 PostgreSQL，无需静态密钥</a:t>
            </a:r>
            <a:endParaRPr lang="en-US" sz="1100" dirty="0"/>
          </a:p>
          <a:p>
            <a:pPr marL="342900" indent="-342900">
              <a:lnSpc>
                <a:spcPct val="126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 Insights 与 Log Analytics 全链路可观测</a:t>
            </a:r>
            <a:endParaRPr lang="en-US" sz="1100" dirty="0"/>
          </a:p>
          <a:p>
            <a:pPr marL="342900" indent="-342900">
              <a:lnSpc>
                <a:spcPct val="126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归因输出跟随界面语言，中英双语一致</a:t>
            </a:r>
            <a:endParaRPr lang="en-US" sz="1100" dirty="0"/>
          </a:p>
          <a:p>
            <a:pPr marL="342900" indent="-342900">
              <a:lnSpc>
                <a:spcPct val="126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管理控制台可查看队列积压、批次进度与诊断注册情况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74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本地使用 SQLite 即可完整跑通，无需云资源。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价值与下一步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r>
              <a:rPr lang="en-US" sz="1650" b="1" dirty="0">
                <a:solidFill>
                  <a:srgbClr val="289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</a:t>
            </a:r>
            <a:r>
              <a:rPr lang="en-US" sz="1650" b="1" dirty="0">
                <a:solidFill>
                  <a:srgbClr val="2289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</a:t>
            </a:r>
            <a:r>
              <a:rPr lang="en-US" sz="1650" b="1" dirty="0">
                <a:solidFill>
                  <a:srgbClr val="1C7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</a:t>
            </a:r>
            <a:r>
              <a:rPr lang="en-US" sz="1650" b="1" dirty="0">
                <a:solidFill>
                  <a:srgbClr val="167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650" b="1" dirty="0">
                <a:solidFill>
                  <a:srgbClr val="106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</a:t>
            </a:r>
            <a:r>
              <a:rPr lang="en-US" sz="1650" b="1" dirty="0">
                <a:solidFill>
                  <a:srgbClr val="1A68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</a:t>
            </a:r>
            <a:r>
              <a:rPr lang="en-US" sz="1650" b="1" dirty="0">
                <a:solidFill>
                  <a:srgbClr val="246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</a:t>
            </a:r>
            <a:r>
              <a:rPr lang="en-US" sz="1650" b="1" dirty="0">
                <a:solidFill>
                  <a:srgbClr val="2F6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</a:t>
            </a:r>
            <a:r>
              <a:rPr lang="en-US" sz="1650" b="1" dirty="0">
                <a:solidFill>
                  <a:srgbClr val="3965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r>
              <a:rPr lang="en-US" sz="1650" b="1" dirty="0">
                <a:solidFill>
                  <a:srgbClr val="4364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r>
              <a:rPr lang="en-US" sz="1650" b="1" dirty="0">
                <a:solidFill>
                  <a:srgbClr val="4E63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</a:t>
            </a:r>
            <a:r>
              <a:rPr lang="en-US" sz="1650" b="1" dirty="0">
                <a:solidFill>
                  <a:srgbClr val="5862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</a:t>
            </a:r>
            <a:r>
              <a:rPr lang="en-US" sz="1650" b="1" dirty="0">
                <a:solidFill>
                  <a:srgbClr val="6261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650" b="1" dirty="0">
                <a:solidFill>
                  <a:srgbClr val="6C60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</a:t>
            </a:r>
            <a:r>
              <a:rPr lang="en-US" sz="1650" b="1" dirty="0">
                <a:solidFill>
                  <a:srgbClr val="76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</a:t>
            </a:r>
            <a:r>
              <a:rPr lang="en-US" sz="1650" b="1" dirty="0">
                <a:solidFill>
                  <a:srgbClr val="815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650" b="1" dirty="0">
                <a:solidFill>
                  <a:srgbClr val="8B5D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</a:t>
            </a:r>
            <a:r>
              <a:rPr lang="en-US" sz="1650" b="1" dirty="0">
                <a:solidFill>
                  <a:srgbClr val="955C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</a:t>
            </a:r>
            <a:r>
              <a:rPr lang="en-US" sz="1650" b="1" dirty="0">
                <a:solidFill>
                  <a:srgbClr val="A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</a:t>
            </a:r>
            <a:r>
              <a:rPr lang="en-US" sz="1650" b="1" dirty="0">
                <a:solidFill>
                  <a:srgbClr val="AA5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</a:t>
            </a:r>
            <a:r>
              <a:rPr lang="en-US" sz="1650" b="1" dirty="0">
                <a:solidFill>
                  <a:srgbClr val="B459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sz="1650" b="1" dirty="0">
                <a:solidFill>
                  <a:srgbClr val="BE5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</a:t>
            </a:r>
            <a:r>
              <a:rPr lang="en-US" sz="1650" b="1" dirty="0">
                <a:solidFill>
                  <a:srgbClr val="C85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</a:t>
            </a:r>
            <a:r>
              <a:rPr lang="en-US" sz="1650" b="1" dirty="0">
                <a:solidFill>
                  <a:srgbClr val="D356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</a:t>
            </a:r>
            <a:r>
              <a:rPr lang="en-US" sz="1650" b="1" dirty="0">
                <a:solidFill>
                  <a:srgbClr val="DD5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果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99434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2249424"/>
            <a:ext cx="384048" cy="82296"/>
          </a:xfrm>
          <a:prstGeom prst="roundRect">
            <a:avLst>
              <a:gd name="adj" fmla="val 50000"/>
            </a:avLst>
          </a:prstGeom>
          <a:solidFill>
            <a:srgbClr val="A736AE"/>
          </a:solidFill>
          <a:ln w="12700">
            <a:solidFill>
              <a:srgbClr val="A73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9848" y="2432304"/>
            <a:ext cx="26313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改量有据可查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9848" y="2871216"/>
            <a:ext cx="263133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每次改量都有原因码、证据引用和审核记录，随时能调出来复查。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6130" y="2011680"/>
            <a:ext cx="3399434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80178" y="2249424"/>
            <a:ext cx="384048" cy="82296"/>
          </a:xfrm>
          <a:prstGeom prst="roundRect">
            <a:avLst>
              <a:gd name="adj" fmla="val 50000"/>
            </a:avLst>
          </a:prstGeom>
          <a:solidFill>
            <a:srgbClr val="6244A7"/>
          </a:solidFill>
          <a:ln w="12700">
            <a:solidFill>
              <a:srgbClr val="6244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80178" y="2432304"/>
            <a:ext cx="26313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参数能跟着改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80178" y="2871216"/>
            <a:ext cx="263133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归因结论指向具体原因，验证达标后按权重回写补货参数与预测模型。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6461" y="2011680"/>
            <a:ext cx="3399434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90509" y="2249424"/>
            <a:ext cx="384048" cy="82296"/>
          </a:xfrm>
          <a:prstGeom prst="roundRect">
            <a:avLst>
              <a:gd name="adj" fmla="val 50000"/>
            </a:avLst>
          </a:prstGeom>
          <a:solidFill>
            <a:srgbClr val="1C51A0"/>
          </a:solidFill>
          <a:ln w="12700">
            <a:solidFill>
              <a:srgbClr val="1C5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90509" y="2432304"/>
            <a:ext cx="26313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风险看得见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90509" y="2871216"/>
            <a:ext cx="263133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未解释残差会单独列出来，人只需要看这一块，不用逐条复核。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224528"/>
            <a:ext cx="10820095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88136" y="4425696"/>
            <a:ext cx="100154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0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88136" y="4892040"/>
            <a:ext cx="164592" cy="164592"/>
          </a:xfrm>
          <a:prstGeom prst="ellipse">
            <a:avLst/>
          </a:prstGeom>
          <a:solidFill>
            <a:srgbClr val="A736AE"/>
          </a:solidFill>
          <a:ln w="12700">
            <a:solidFill>
              <a:srgbClr val="A73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80744" y="480974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扩展诊断域：本地活动、天气、竞品动作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26610" y="4892040"/>
            <a:ext cx="164592" cy="164592"/>
          </a:xfrm>
          <a:prstGeom prst="ellipse">
            <a:avLst/>
          </a:prstGeom>
          <a:solidFill>
            <a:srgbClr val="6244A7"/>
          </a:solidFill>
          <a:ln w="12700">
            <a:solidFill>
              <a:srgbClr val="6244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19218" y="480974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知识条目回写补货参数与预测模型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65085" y="4892040"/>
            <a:ext cx="164592" cy="164592"/>
          </a:xfrm>
          <a:prstGeom prst="ellipse">
            <a:avLst/>
          </a:prstGeom>
          <a:solidFill>
            <a:srgbClr val="1C51A0"/>
          </a:solidFill>
          <a:ln w="12700">
            <a:solidFill>
              <a:srgbClr val="1C5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57693" y="480974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3B3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按门店与品类发布准确率周报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57607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</a:t>
            </a:r>
            <a:r>
              <a:rPr lang="en-US" sz="1600" b="1" dirty="0">
                <a:solidFill>
                  <a:srgbClr val="2690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</a:t>
            </a:r>
            <a:r>
              <a:rPr lang="en-US" sz="1600" b="1" dirty="0">
                <a:solidFill>
                  <a:srgbClr val="1E8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</a:t>
            </a:r>
            <a:r>
              <a:rPr lang="en-US" sz="1600" b="1" dirty="0">
                <a:solidFill>
                  <a:srgbClr val="167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</a:t>
            </a:r>
            <a:r>
              <a:rPr lang="en-US" sz="1600" b="1" dirty="0">
                <a:solidFill>
                  <a:srgbClr val="1369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r>
              <a:rPr lang="en-US" sz="1600" b="1" dirty="0">
                <a:solidFill>
                  <a:srgbClr val="206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</a:t>
            </a:r>
            <a:r>
              <a:rPr lang="en-US" sz="1600" b="1" dirty="0">
                <a:solidFill>
                  <a:srgbClr val="2E6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</a:t>
            </a:r>
            <a:r>
              <a:rPr lang="en-US" sz="1600" b="1" dirty="0">
                <a:solidFill>
                  <a:srgbClr val="3B65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600" b="1" dirty="0">
                <a:solidFill>
                  <a:srgbClr val="4963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</a:t>
            </a:r>
            <a:r>
              <a:rPr lang="en-US" sz="1600" b="1" dirty="0">
                <a:solidFill>
                  <a:srgbClr val="5662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</a:t>
            </a:r>
            <a:r>
              <a:rPr lang="en-US" sz="1600" b="1" dirty="0">
                <a:solidFill>
                  <a:srgbClr val="6461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</a:t>
            </a:r>
            <a:r>
              <a:rPr lang="en-US" sz="1600" b="1" dirty="0">
                <a:solidFill>
                  <a:srgbClr val="716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</a:t>
            </a:r>
            <a:r>
              <a:rPr lang="en-US" sz="1600" b="1" dirty="0">
                <a:solidFill>
                  <a:srgbClr val="7F5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</a:t>
            </a:r>
            <a:r>
              <a:rPr lang="en-US" sz="1600" b="1" dirty="0">
                <a:solidFill>
                  <a:srgbClr val="8C5D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</a:t>
            </a:r>
            <a:r>
              <a:rPr lang="en-US" sz="1600" b="1" dirty="0">
                <a:solidFill>
                  <a:srgbClr val="9A5C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</a:t>
            </a:r>
            <a:r>
              <a:rPr lang="en-US" sz="1600" b="1" dirty="0">
                <a:solidFill>
                  <a:srgbClr val="A75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</a:t>
            </a:r>
            <a:r>
              <a:rPr lang="en-US" sz="1600" b="1" dirty="0">
                <a:solidFill>
                  <a:srgbClr val="B559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</a:t>
            </a:r>
            <a:r>
              <a:rPr lang="en-US" sz="1600" b="1" dirty="0">
                <a:solidFill>
                  <a:srgbClr val="C25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</a:t>
            </a:r>
            <a:r>
              <a:rPr lang="en-US" sz="1600" b="1" dirty="0">
                <a:solidFill>
                  <a:srgbClr val="D056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r>
              <a:rPr lang="en-US" sz="1600" b="1" dirty="0">
                <a:solidFill>
                  <a:srgbClr val="DD55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499</Words>
  <Application>Microsoft Office PowerPoint</Application>
  <PresentationFormat>Widescreen</PresentationFormat>
  <Paragraphs>150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Microsoft YaHei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门店智能补货与归因系统</dc:title>
  <dc:subject>PptxGenJS Presentation</dc:subject>
  <dc:creator>DMall Supply Chain</dc:creator>
  <cp:lastModifiedBy>Ming(George) Gu</cp:lastModifiedBy>
  <cp:revision>9</cp:revision>
  <dcterms:created xsi:type="dcterms:W3CDTF">2026-07-28T02:06:55Z</dcterms:created>
  <dcterms:modified xsi:type="dcterms:W3CDTF">2026-07-28T07:47:00Z</dcterms:modified>
</cp:coreProperties>
</file>